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5"/>
  </p:notesMasterIdLst>
  <p:handoutMasterIdLst>
    <p:handoutMasterId r:id="rId26"/>
  </p:handoutMasterIdLst>
  <p:sldIdLst>
    <p:sldId id="314" r:id="rId3"/>
    <p:sldId id="323" r:id="rId4"/>
    <p:sldId id="266" r:id="rId5"/>
    <p:sldId id="341" r:id="rId6"/>
    <p:sldId id="342" r:id="rId7"/>
    <p:sldId id="343" r:id="rId8"/>
    <p:sldId id="344" r:id="rId9"/>
    <p:sldId id="345" r:id="rId10"/>
    <p:sldId id="351" r:id="rId11"/>
    <p:sldId id="352" r:id="rId12"/>
    <p:sldId id="353" r:id="rId13"/>
    <p:sldId id="354" r:id="rId14"/>
    <p:sldId id="346" r:id="rId15"/>
    <p:sldId id="355" r:id="rId16"/>
    <p:sldId id="356" r:id="rId17"/>
    <p:sldId id="357" r:id="rId18"/>
    <p:sldId id="358" r:id="rId19"/>
    <p:sldId id="340" r:id="rId20"/>
    <p:sldId id="359" r:id="rId21"/>
    <p:sldId id="347" r:id="rId22"/>
    <p:sldId id="348" r:id="rId23"/>
    <p:sldId id="33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82"/>
    <p:restoredTop sz="95833"/>
  </p:normalViewPr>
  <p:slideViewPr>
    <p:cSldViewPr snapToGrid="0" snapToObjects="1">
      <p:cViewPr>
        <p:scale>
          <a:sx n="66" d="100"/>
          <a:sy n="66" d="100"/>
        </p:scale>
        <p:origin x="714" y="48"/>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err="1">
                <a:solidFill>
                  <a:srgbClr val="0070C0"/>
                </a:solidFill>
                <a:latin typeface="+mn-lt"/>
                <a:cs typeface="Arial" panose="020B0604020202020204" pitchFamily="34" charset="0"/>
              </a:rPr>
              <a:t>Title:smart</a:t>
            </a:r>
            <a:r>
              <a:rPr lang="en-US" sz="2400" dirty="0">
                <a:solidFill>
                  <a:srgbClr val="0070C0"/>
                </a:solidFill>
                <a:latin typeface="+mn-lt"/>
                <a:cs typeface="Arial" panose="020B0604020202020204" pitchFamily="34" charset="0"/>
              </a:rPr>
              <a:t> online marketplace for </a:t>
            </a:r>
            <a:r>
              <a:rPr lang="en-US" sz="2400" dirty="0" err="1">
                <a:solidFill>
                  <a:srgbClr val="0070C0"/>
                </a:solidFill>
                <a:latin typeface="+mn-lt"/>
                <a:cs typeface="Arial" panose="020B0604020202020204" pitchFamily="34" charset="0"/>
              </a:rPr>
              <a:t>loacal</a:t>
            </a:r>
            <a:r>
              <a:rPr lang="en-US" sz="2400" dirty="0">
                <a:solidFill>
                  <a:srgbClr val="0070C0"/>
                </a:solidFill>
                <a:latin typeface="+mn-lt"/>
                <a:cs typeface="Arial" panose="020B0604020202020204" pitchFamily="34" charset="0"/>
              </a:rPr>
              <a:t> vendors</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B.pavan</a:t>
            </a:r>
            <a:endParaRPr lang="en-US" sz="9600" dirty="0"/>
          </a:p>
          <a:p>
            <a:pPr marL="0" indent="0" algn="ctr">
              <a:buNone/>
            </a:pPr>
            <a:r>
              <a:rPr lang="en-US" sz="9600" dirty="0"/>
              <a:t>Student ID: 2520040102</a:t>
            </a:r>
            <a:endParaRPr lang="en-US" sz="2400" dirty="0"/>
          </a:p>
          <a:p>
            <a:pPr marL="0" indent="0" algn="ctr">
              <a:buNone/>
            </a:pPr>
            <a:r>
              <a:rPr lang="en-US" sz="11200" dirty="0"/>
              <a:t>Cluster:01</a:t>
            </a:r>
          </a:p>
          <a:p>
            <a:pPr marL="0" indent="0" algn="ctr">
              <a:buNone/>
            </a:pPr>
            <a:r>
              <a:rPr lang="en-US" sz="11200" dirty="0"/>
              <a:t>Section: 01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42537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Ramakanth sir</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ECE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77778" y="1457875"/>
            <a:ext cx="10515600" cy="4351338"/>
          </a:xfrm>
        </p:spPr>
        <p:txBody>
          <a:bodyPr>
            <a:normAutofit fontScale="85000" lnSpcReduction="10000"/>
          </a:bodyPr>
          <a:lstStyle/>
          <a:p>
            <a:r>
              <a:rPr lang="en-US" dirty="0"/>
              <a:t>The </a:t>
            </a:r>
            <a:r>
              <a:rPr lang="en-US" b="1" dirty="0"/>
              <a:t>Smart Online Marketplace for Local Vendors</a:t>
            </a:r>
            <a:r>
              <a:rPr lang="en-US" dirty="0"/>
              <a:t> is designed to empower small-scale sellers by providing them with a digital platform to showcase and sell their products efficiently. Unlike conventional e-commerce systems, this marketplace focuses on inclusivity, accessibility, and community growth by integrating local vendors into a unified online ecosystem. The platform leverages modern web technologies and data structures to ensure seamless navigation, secure transactions, and personalized recommendations for buyers.</a:t>
            </a:r>
          </a:p>
          <a:p>
            <a:r>
              <a:rPr lang="en-US" dirty="0"/>
              <a:t>Key features include vendor registration, product catalog management, real-time inventory tracking, and location-based search to connect customers with nearby sellers. The system also incorporates analytics dashboards for vendors to monitor sales trends and customer preferences, enabling data-driven decision-making. By bridging the gap between traditional markets and digital commerce, the project fosters economic empowerment, enhances visibility for local businesses, and promotes sustainable community development.</a:t>
            </a:r>
          </a:p>
          <a:p>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2" name="Content Placeholder 1">
            <a:extLst>
              <a:ext uri="{FF2B5EF4-FFF2-40B4-BE49-F238E27FC236}">
                <a16:creationId xmlns:a16="http://schemas.microsoft.com/office/drawing/2014/main" id="{85A2077C-1009-0613-D4D6-EEF7BF07CEC4}"/>
              </a:ext>
            </a:extLst>
          </p:cNvPr>
          <p:cNvSpPr>
            <a:spLocks noGrp="1" noChangeArrowheads="1"/>
          </p:cNvSpPr>
          <p:nvPr>
            <p:ph idx="1"/>
          </p:nvPr>
        </p:nvSpPr>
        <p:spPr bwMode="auto">
          <a:xfrm>
            <a:off x="1015466" y="1453866"/>
            <a:ext cx="9877124" cy="5279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At present, local vendors primarily rely on </a:t>
            </a:r>
            <a:r>
              <a:rPr lang="en-US" sz="2400" b="1" dirty="0"/>
              <a:t>traditional marketplaces</a:t>
            </a:r>
            <a:r>
              <a:rPr lang="en-US" sz="2400" dirty="0"/>
              <a:t> or </a:t>
            </a:r>
            <a:r>
              <a:rPr lang="en-US" sz="2400" b="1" dirty="0"/>
              <a:t>general e-commerce platforms</a:t>
            </a:r>
            <a:r>
              <a:rPr lang="en-US" sz="2400" dirty="0"/>
              <a:t> (such as Amazon, Flipkart, or local grocery apps) to sell their products. These systems provide basic features like vendor registration, product listing, and online payment integration. However, they are often designed for large-scale sellers and lack customization for small, community-based vendors.</a:t>
            </a:r>
          </a:p>
          <a:p>
            <a:r>
              <a:rPr lang="en-US" sz="2400" b="1" dirty="0"/>
              <a:t>Traditional Marketplaces:</a:t>
            </a:r>
            <a:r>
              <a:rPr lang="en-US" sz="2400" dirty="0"/>
              <a:t> Vendors sell directly to customers in physical markets. While this ensures personal interaction and trust, it limits reach, convenience, and scalability.</a:t>
            </a:r>
          </a:p>
          <a:p>
            <a:r>
              <a:rPr lang="en-US" sz="2400" b="1" dirty="0"/>
              <a:t>General E-commerce Platforms:</a:t>
            </a:r>
            <a:r>
              <a:rPr lang="en-US" sz="2400" dirty="0"/>
              <a:t> Platforms like Amazon or Flipkart allow vendors to list products online. These systems offer wide visibility but involve complex onboarding, high commission fees, and competitive pressure from large brands. Small vendors often struggle to stand out or manage logistics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009409" y="-198880"/>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3" name="Content Placeholder 2">
            <a:extLst>
              <a:ext uri="{FF2B5EF4-FFF2-40B4-BE49-F238E27FC236}">
                <a16:creationId xmlns:a16="http://schemas.microsoft.com/office/drawing/2014/main" id="{6EC32392-1F95-E16D-2412-60BBCFF3E091}"/>
              </a:ext>
            </a:extLst>
          </p:cNvPr>
          <p:cNvSpPr>
            <a:spLocks noGrp="1" noChangeArrowheads="1"/>
          </p:cNvSpPr>
          <p:nvPr>
            <p:ph idx="1"/>
          </p:nvPr>
        </p:nvSpPr>
        <p:spPr bwMode="auto">
          <a:xfrm>
            <a:off x="838200" y="1012791"/>
            <a:ext cx="11089640" cy="5377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sz="2400" dirty="0"/>
              <a:t>The </a:t>
            </a:r>
            <a:r>
              <a:rPr lang="en-US" sz="2400" b="1" dirty="0"/>
              <a:t>Smart Online Marketplace for Local Vendors</a:t>
            </a:r>
            <a:r>
              <a:rPr lang="en-US" sz="2400" dirty="0"/>
              <a:t> proposes a dedicated, vendor-friendly digital platform tailored to the needs of small businesses and community sellers. Unlike existing systems, this marketplace emphasizes simplicity, affordability, and local relevance.</a:t>
            </a:r>
          </a:p>
          <a:p>
            <a:r>
              <a:rPr lang="en-US" sz="2400" b="1" dirty="0"/>
              <a:t>Key Features of the Proposed System:</a:t>
            </a:r>
            <a:endParaRPr lang="en-US" sz="2400" dirty="0"/>
          </a:p>
          <a:p>
            <a:r>
              <a:rPr lang="en-US" sz="2400" b="1" dirty="0"/>
              <a:t>Vendor-Centric Design:</a:t>
            </a:r>
            <a:r>
              <a:rPr lang="en-US" sz="2400" dirty="0"/>
              <a:t> Easy registration and product catalog management with minimal technical requirements.</a:t>
            </a:r>
          </a:p>
          <a:p>
            <a:r>
              <a:rPr lang="en-US" sz="2400" b="1" dirty="0"/>
              <a:t>Location-Based Search:</a:t>
            </a:r>
            <a:r>
              <a:rPr lang="en-US" sz="2400" dirty="0"/>
              <a:t> Customers can discover nearby vendors and products, fostering community engagement and reducing delivery times.</a:t>
            </a:r>
          </a:p>
          <a:p>
            <a:r>
              <a:rPr lang="en-US" sz="2400" b="1" dirty="0"/>
              <a:t>Real-Time Inventory Management:</a:t>
            </a:r>
            <a:r>
              <a:rPr lang="en-US" sz="2400" dirty="0"/>
              <a:t> Vendors can update stock instantly, ensuring accurate product availability for buyers.</a:t>
            </a:r>
          </a:p>
          <a:p>
            <a:r>
              <a:rPr lang="en-US" sz="2400" b="1" dirty="0"/>
              <a:t>Secure Transactions:</a:t>
            </a:r>
            <a:r>
              <a:rPr lang="en-US" sz="2400" dirty="0"/>
              <a:t> Integrated payment gateways with options for cash-on-delivery to suit local preferences.</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Google Sans Text"/>
            </a:endParaRPr>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2" name="Content Placeholder 1">
            <a:extLst>
              <a:ext uri="{FF2B5EF4-FFF2-40B4-BE49-F238E27FC236}">
                <a16:creationId xmlns:a16="http://schemas.microsoft.com/office/drawing/2014/main" id="{C2486504-FE2D-9609-5291-21305B25E772}"/>
              </a:ext>
            </a:extLst>
          </p:cNvPr>
          <p:cNvSpPr>
            <a:spLocks noGrp="1" noChangeArrowheads="1"/>
          </p:cNvSpPr>
          <p:nvPr>
            <p:ph idx="1"/>
          </p:nvPr>
        </p:nvSpPr>
        <p:spPr bwMode="auto">
          <a:xfrm>
            <a:off x="809689" y="3090445"/>
            <a:ext cx="399019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657600" lvl="8" indent="0" eaLnBrk="0" fontAlgn="base" hangingPunct="0">
              <a:lnSpc>
                <a:spcPct val="100000"/>
              </a:lnSpc>
              <a:spcBef>
                <a:spcPct val="0"/>
              </a:spcBef>
              <a:spcAft>
                <a:spcPct val="0"/>
              </a:spcAft>
              <a:buNone/>
            </a:pP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5213A134-9023-F0FE-A067-10047A98DC0D}"/>
              </a:ext>
            </a:extLst>
          </p:cNvPr>
          <p:cNvSpPr>
            <a:spLocks noChangeArrowheads="1"/>
          </p:cNvSpPr>
          <p:nvPr/>
        </p:nvSpPr>
        <p:spPr bwMode="auto">
          <a:xfrm>
            <a:off x="1326240" y="1690061"/>
            <a:ext cx="1055570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Responsive web/mobile interface for vendors and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Features: product browsing, vendor dashboards, shopping cart, checkout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Backend (Application Layer):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Handles business logic, authentication, order processing, and analytics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Implements algorithms for search, sorting, and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Database Layer: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Stores vendor profiles, product catalogs, customer accounts, orders, and analytics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Multi-Tier Design:</a:t>
            </a:r>
            <a:r>
              <a:rPr kumimoji="0" lang="en-US" altLang="en-US" sz="2000" b="0" i="0" u="none" strike="noStrike" cap="none" normalizeH="0" baseline="0" dirty="0">
                <a:ln>
                  <a:noFill/>
                </a:ln>
                <a:solidFill>
                  <a:schemeClr val="tx1"/>
                </a:solidFill>
                <a:effectLst/>
                <a:latin typeface="Arial" panose="020B0604020202020204" pitchFamily="34" charset="0"/>
              </a:rPr>
              <a:t> Divided into Presentation, Application, Database, and Integration layers for modularity and scalability.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Frontend (Presentation Layer):</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009409" y="0"/>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3" name="Rectangle 1">
            <a:extLst>
              <a:ext uri="{FF2B5EF4-FFF2-40B4-BE49-F238E27FC236}">
                <a16:creationId xmlns:a16="http://schemas.microsoft.com/office/drawing/2014/main" id="{05859A3D-8DC6-BA84-FA2D-38EE17C66447}"/>
              </a:ext>
            </a:extLst>
          </p:cNvPr>
          <p:cNvSpPr>
            <a:spLocks noGrp="1" noChangeArrowheads="1"/>
          </p:cNvSpPr>
          <p:nvPr>
            <p:ph idx="1"/>
          </p:nvPr>
        </p:nvSpPr>
        <p:spPr bwMode="auto">
          <a:xfrm>
            <a:off x="838199" y="823596"/>
            <a:ext cx="913998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Vendor Module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Vendor registration &amp;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Product catalog creation and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Real-time inventory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Sales analytics dashboard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Customer Module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Customer registration &amp;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Product browsing with search &amp; filters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Location-based vendor discovery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Shopping cart, checkout, and order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Admin Module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Vendor approval &amp;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Product/category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Customer support &amp; dispute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System-wide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Product &amp; Inventory Module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Product listing with details (price, description,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Stock updates and alerts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3073" name="Picture 1">
            <a:extLst>
              <a:ext uri="{FF2B5EF4-FFF2-40B4-BE49-F238E27FC236}">
                <a16:creationId xmlns:a16="http://schemas.microsoft.com/office/drawing/2014/main" id="{26592678-8BB2-7458-B9AF-BEA35D948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a:extLst>
              <a:ext uri="{FF2B5EF4-FFF2-40B4-BE49-F238E27FC236}">
                <a16:creationId xmlns:a16="http://schemas.microsoft.com/office/drawing/2014/main" id="{02861C1C-7AE9-002D-F079-3F245FBEF9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10">
            <a:extLst>
              <a:ext uri="{FF2B5EF4-FFF2-40B4-BE49-F238E27FC236}">
                <a16:creationId xmlns:a16="http://schemas.microsoft.com/office/drawing/2014/main" id="{CCF7D2B6-D592-CAE9-B287-957361D8F1C4}"/>
              </a:ext>
            </a:extLst>
          </p:cNvPr>
          <p:cNvSpPr>
            <a:spLocks noGrp="1"/>
          </p:cNvSpPr>
          <p:nvPr>
            <p:ph idx="1"/>
          </p:nvPr>
        </p:nvSpPr>
        <p:spPr>
          <a:xfrm>
            <a:off x="886326" y="1253330"/>
            <a:ext cx="10515600" cy="4812259"/>
          </a:xfrm>
        </p:spPr>
        <p:txBody>
          <a:bodyPr/>
          <a:lstStyle/>
          <a:p>
            <a:endParaRPr lang="en-US" dirty="0"/>
          </a:p>
        </p:txBody>
      </p:sp>
      <p:sp>
        <p:nvSpPr>
          <p:cNvPr id="12" name="Rectangle 6">
            <a:extLst>
              <a:ext uri="{FF2B5EF4-FFF2-40B4-BE49-F238E27FC236}">
                <a16:creationId xmlns:a16="http://schemas.microsoft.com/office/drawing/2014/main" id="{9D856B00-C14B-DE49-854F-BE9D25B2A41A}"/>
              </a:ext>
            </a:extLst>
          </p:cNvPr>
          <p:cNvSpPr>
            <a:spLocks noChangeArrowheads="1"/>
          </p:cNvSpPr>
          <p:nvPr/>
        </p:nvSpPr>
        <p:spPr bwMode="auto">
          <a:xfrm>
            <a:off x="838200" y="1783894"/>
            <a:ext cx="980515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Empower Local Vendors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Provide a simple, affordable digital platform for small businesses to showcase and sell their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Enhance Accessibility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Enable customers to discover nearby vendors through location-based search and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Streamline Transactions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Integrate secure payment gateways and order management systems for smooth buying and selling.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Improve Inventory Management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Offer real-time stock updates to ensure accurate product availability.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r>
              <a:rPr lang="en-US" b="1" dirty="0"/>
              <a:t>CO1 – Internet Fundamentals, HTML &amp; Basic CSS</a:t>
            </a:r>
          </a:p>
          <a:p>
            <a:r>
              <a:rPr lang="en-US" dirty="0"/>
              <a:t> Designed the web page structure using </a:t>
            </a:r>
            <a:r>
              <a:rPr lang="en-US" b="1" dirty="0"/>
              <a:t>HTML elements</a:t>
            </a:r>
            <a:r>
              <a:rPr lang="en-US" dirty="0"/>
              <a:t> such as header, navigation bar, sections, tables, and forms.</a:t>
            </a:r>
          </a:p>
          <a:p>
            <a:r>
              <a:rPr lang="en-US" dirty="0"/>
              <a:t> Implemented </a:t>
            </a:r>
            <a:r>
              <a:rPr lang="en-US" b="1" dirty="0"/>
              <a:t>basic CSS styling</a:t>
            </a:r>
            <a:r>
              <a:rPr lang="en-US" dirty="0"/>
              <a:t> including colors, fonts, margins, borders, and layout to enhance the user interface.</a:t>
            </a:r>
          </a:p>
          <a:p>
            <a:r>
              <a:rPr lang="en-US" dirty="0"/>
              <a:t> Developed a structured </a:t>
            </a:r>
            <a:r>
              <a:rPr lang="en-US" b="1" dirty="0"/>
              <a:t>web page layout for the smart online marketplace for local vendors System</a:t>
            </a:r>
            <a:r>
              <a:rPr lang="en-US" dirty="0"/>
              <a:t>.</a:t>
            </a:r>
          </a:p>
          <a:p>
            <a:r>
              <a:rPr lang="en-US" dirty="0"/>
              <a:t> Applied fundamental web concepts to build a </a:t>
            </a:r>
            <a:r>
              <a:rPr lang="en-US" b="1" dirty="0"/>
              <a:t>static and responsive webpage interface</a:t>
            </a:r>
            <a:r>
              <a:rPr lang="en-US" dirty="0"/>
              <a:t>.</a:t>
            </a: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C294D-1797-9021-E5E3-CCB2AC4B8DC0}"/>
              </a:ext>
            </a:extLst>
          </p:cNvPr>
          <p:cNvSpPr>
            <a:spLocks noGrp="1"/>
          </p:cNvSpPr>
          <p:nvPr>
            <p:ph type="title"/>
          </p:nvPr>
        </p:nvSpPr>
        <p:spPr>
          <a:xfrm>
            <a:off x="838200" y="834681"/>
            <a:ext cx="10515600" cy="1325563"/>
          </a:xfrm>
        </p:spPr>
        <p:txBody>
          <a:bodyPr/>
          <a:lstStyle/>
          <a:p>
            <a:r>
              <a:rPr lang="en-US" b="1" dirty="0"/>
              <a:t>CO2 – HTML Forms &amp; Advanced CSS</a:t>
            </a:r>
            <a:br>
              <a:rPr lang="en-US" b="1" dirty="0"/>
            </a:br>
            <a:endParaRPr lang="en-IN" dirty="0"/>
          </a:p>
        </p:txBody>
      </p:sp>
      <p:sp>
        <p:nvSpPr>
          <p:cNvPr id="3" name="Content Placeholder 2">
            <a:extLst>
              <a:ext uri="{FF2B5EF4-FFF2-40B4-BE49-F238E27FC236}">
                <a16:creationId xmlns:a16="http://schemas.microsoft.com/office/drawing/2014/main" id="{B89935AA-AD7A-F4C3-D01C-5CB3FEC8B40D}"/>
              </a:ext>
            </a:extLst>
          </p:cNvPr>
          <p:cNvSpPr>
            <a:spLocks noGrp="1"/>
          </p:cNvSpPr>
          <p:nvPr>
            <p:ph idx="1"/>
          </p:nvPr>
        </p:nvSpPr>
        <p:spPr/>
        <p:txBody>
          <a:bodyPr/>
          <a:lstStyle/>
          <a:p>
            <a:pPr>
              <a:buNone/>
            </a:pPr>
            <a:r>
              <a:rPr lang="en-US" dirty="0"/>
              <a:t>• Implemented </a:t>
            </a:r>
            <a:r>
              <a:rPr lang="en-US" b="1" dirty="0"/>
              <a:t>HTML forms</a:t>
            </a:r>
            <a:r>
              <a:rPr lang="en-US" dirty="0"/>
              <a:t> for admin input such as , item name, cost, quantity.</a:t>
            </a:r>
            <a:br>
              <a:rPr lang="en-US" dirty="0"/>
            </a:br>
            <a:r>
              <a:rPr lang="en-US" dirty="0"/>
              <a:t>• Used </a:t>
            </a:r>
            <a:r>
              <a:rPr lang="en-US" b="1" dirty="0"/>
              <a:t>CSS styling techniques</a:t>
            </a:r>
            <a:r>
              <a:rPr lang="en-US" dirty="0"/>
              <a:t> to design tables, buttons, and layout.</a:t>
            </a:r>
            <a:br>
              <a:rPr lang="en-US" dirty="0"/>
            </a:br>
            <a:r>
              <a:rPr lang="en-US" dirty="0"/>
              <a:t>• Applied </a:t>
            </a:r>
            <a:r>
              <a:rPr lang="en-US" b="1" dirty="0"/>
              <a:t>responsive layout and structured UI</a:t>
            </a:r>
            <a:r>
              <a:rPr lang="en-US" dirty="0"/>
              <a:t> for better user interaction.</a:t>
            </a:r>
            <a:br>
              <a:rPr lang="en-US" dirty="0"/>
            </a:br>
            <a:r>
              <a:rPr lang="en-US" dirty="0"/>
              <a:t>• Improved the visual design of the </a:t>
            </a:r>
            <a:r>
              <a:rPr lang="en-US" b="1" dirty="0"/>
              <a:t>smart online market place for local vendors System interface</a:t>
            </a:r>
            <a:r>
              <a:rPr lang="en-US" dirty="0"/>
              <a:t>.</a:t>
            </a:r>
          </a:p>
          <a:p>
            <a:endParaRPr lang="en-IN" dirty="0"/>
          </a:p>
        </p:txBody>
      </p:sp>
      <p:sp>
        <p:nvSpPr>
          <p:cNvPr id="4" name="Date Placeholder 3">
            <a:extLst>
              <a:ext uri="{FF2B5EF4-FFF2-40B4-BE49-F238E27FC236}">
                <a16:creationId xmlns:a16="http://schemas.microsoft.com/office/drawing/2014/main" id="{19C5E837-FABE-0FE3-8951-C9BC59CE0A56}"/>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DAB8DB6A-714B-AC36-E70F-E51D49D3682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3DF205B-84B1-DA91-6193-E19ED20EF06A}"/>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405833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4C13-B74B-7506-F595-8922EE560716}"/>
              </a:ext>
            </a:extLst>
          </p:cNvPr>
          <p:cNvSpPr>
            <a:spLocks noGrp="1"/>
          </p:cNvSpPr>
          <p:nvPr>
            <p:ph type="title"/>
          </p:nvPr>
        </p:nvSpPr>
        <p:spPr>
          <a:xfrm>
            <a:off x="1604319" y="997078"/>
            <a:ext cx="10515600" cy="1325563"/>
          </a:xfrm>
        </p:spPr>
        <p:txBody>
          <a:bodyPr/>
          <a:lstStyle/>
          <a:p>
            <a:pPr algn="ctr"/>
            <a:r>
              <a:rPr lang="en-US" b="1" dirty="0"/>
              <a:t>CO3 – JavaScript Programming</a:t>
            </a:r>
            <a:br>
              <a:rPr lang="en-US" b="1" dirty="0"/>
            </a:br>
            <a:endParaRPr lang="en-IN" dirty="0"/>
          </a:p>
        </p:txBody>
      </p:sp>
      <p:sp>
        <p:nvSpPr>
          <p:cNvPr id="3" name="Content Placeholder 2">
            <a:extLst>
              <a:ext uri="{FF2B5EF4-FFF2-40B4-BE49-F238E27FC236}">
                <a16:creationId xmlns:a16="http://schemas.microsoft.com/office/drawing/2014/main" id="{AB33E371-C595-B5EF-62DA-508D01E459C6}"/>
              </a:ext>
            </a:extLst>
          </p:cNvPr>
          <p:cNvSpPr>
            <a:spLocks noGrp="1"/>
          </p:cNvSpPr>
          <p:nvPr>
            <p:ph idx="1"/>
          </p:nvPr>
        </p:nvSpPr>
        <p:spPr>
          <a:xfrm>
            <a:off x="838200" y="2978923"/>
            <a:ext cx="10515600" cy="4351338"/>
          </a:xfrm>
        </p:spPr>
        <p:txBody>
          <a:bodyPr/>
          <a:lstStyle/>
          <a:p>
            <a:pPr>
              <a:buNone/>
            </a:pPr>
            <a:r>
              <a:rPr lang="en-US" dirty="0"/>
              <a:t>   • Implemented </a:t>
            </a:r>
            <a:r>
              <a:rPr lang="en-US" b="1" dirty="0"/>
              <a:t>JavaScript functions</a:t>
            </a:r>
            <a:r>
              <a:rPr lang="en-US" dirty="0"/>
              <a:t> to control the application logic.</a:t>
            </a:r>
            <a:br>
              <a:rPr lang="en-US" dirty="0"/>
            </a:br>
            <a:r>
              <a:rPr lang="en-US" dirty="0"/>
              <a:t>• Developed functions such as </a:t>
            </a:r>
            <a:r>
              <a:rPr lang="en-US" b="1" dirty="0" err="1"/>
              <a:t>addcart</a:t>
            </a:r>
            <a:r>
              <a:rPr lang="en-US" b="1" dirty="0"/>
              <a:t>(), </a:t>
            </a:r>
            <a:r>
              <a:rPr lang="en-US" b="1" dirty="0" err="1"/>
              <a:t>deletecart</a:t>
            </a:r>
            <a:r>
              <a:rPr lang="en-US" b="1" dirty="0"/>
              <a:t>()</a:t>
            </a:r>
            <a:r>
              <a:rPr lang="en-US" dirty="0"/>
              <a:t>.</a:t>
            </a:r>
            <a:br>
              <a:rPr lang="en-US" dirty="0"/>
            </a:br>
            <a:r>
              <a:rPr lang="en-US" dirty="0"/>
              <a:t>• Used </a:t>
            </a:r>
            <a:r>
              <a:rPr lang="en-US" b="1" dirty="0"/>
              <a:t>arrays and objects</a:t>
            </a:r>
            <a:r>
              <a:rPr lang="en-US" dirty="0"/>
              <a:t> to manage food inventory data.</a:t>
            </a:r>
            <a:br>
              <a:rPr lang="en-US" dirty="0"/>
            </a:br>
            <a:r>
              <a:rPr lang="en-US" dirty="0"/>
              <a:t>• Enabled </a:t>
            </a:r>
            <a:r>
              <a:rPr lang="en-US" b="1" dirty="0"/>
              <a:t>dynamic interaction between the user interface and data</a:t>
            </a:r>
            <a:r>
              <a:rPr lang="en-US" dirty="0"/>
              <a:t>.</a:t>
            </a:r>
          </a:p>
          <a:p>
            <a:endParaRPr lang="en-IN" dirty="0"/>
          </a:p>
        </p:txBody>
      </p:sp>
      <p:sp>
        <p:nvSpPr>
          <p:cNvPr id="4" name="Date Placeholder 3">
            <a:extLst>
              <a:ext uri="{FF2B5EF4-FFF2-40B4-BE49-F238E27FC236}">
                <a16:creationId xmlns:a16="http://schemas.microsoft.com/office/drawing/2014/main" id="{E72F873B-C03F-BE5F-6E31-FF89D25BD11E}"/>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54890F74-8DC2-1610-B30C-FF717911DC0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1C03A81-EB3E-2C6E-D80B-C5C9E3085086}"/>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34671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36F7-35F9-52FD-3353-94A9C9870014}"/>
              </a:ext>
            </a:extLst>
          </p:cNvPr>
          <p:cNvSpPr>
            <a:spLocks noGrp="1"/>
          </p:cNvSpPr>
          <p:nvPr>
            <p:ph type="title"/>
          </p:nvPr>
        </p:nvSpPr>
        <p:spPr>
          <a:xfrm>
            <a:off x="739346" y="900584"/>
            <a:ext cx="10515600" cy="1325563"/>
          </a:xfrm>
        </p:spPr>
        <p:txBody>
          <a:bodyPr/>
          <a:lstStyle/>
          <a:p>
            <a:pPr algn="ctr"/>
            <a:r>
              <a:rPr lang="en-IN" b="1" dirty="0"/>
              <a:t>CO4 – DOM Manipulation &amp; Web Storage</a:t>
            </a:r>
            <a:br>
              <a:rPr lang="en-IN" b="1" dirty="0"/>
            </a:br>
            <a:endParaRPr lang="en-IN" dirty="0"/>
          </a:p>
        </p:txBody>
      </p:sp>
      <p:sp>
        <p:nvSpPr>
          <p:cNvPr id="3" name="Content Placeholder 2">
            <a:extLst>
              <a:ext uri="{FF2B5EF4-FFF2-40B4-BE49-F238E27FC236}">
                <a16:creationId xmlns:a16="http://schemas.microsoft.com/office/drawing/2014/main" id="{CAD63F79-45C5-24E0-8541-18CF3240D043}"/>
              </a:ext>
            </a:extLst>
          </p:cNvPr>
          <p:cNvSpPr>
            <a:spLocks noGrp="1"/>
          </p:cNvSpPr>
          <p:nvPr>
            <p:ph idx="1"/>
          </p:nvPr>
        </p:nvSpPr>
        <p:spPr>
          <a:xfrm>
            <a:off x="1227438" y="2255923"/>
            <a:ext cx="9401431" cy="3257121"/>
          </a:xfrm>
        </p:spPr>
        <p:txBody>
          <a:bodyPr/>
          <a:lstStyle/>
          <a:p>
            <a:pPr marL="0" indent="0">
              <a:buNone/>
            </a:pPr>
            <a:r>
              <a:rPr lang="en-IN" dirty="0"/>
              <a:t>• Used </a:t>
            </a:r>
            <a:r>
              <a:rPr lang="en-IN" b="1" dirty="0"/>
              <a:t>DOM manipulation</a:t>
            </a:r>
            <a:r>
              <a:rPr lang="en-IN" dirty="0"/>
              <a:t> to update webpage content dynamically.</a:t>
            </a:r>
            <a:br>
              <a:rPr lang="en-IN" dirty="0"/>
            </a:br>
            <a:r>
              <a:rPr lang="en-IN" dirty="0"/>
              <a:t>• Implemented </a:t>
            </a:r>
            <a:r>
              <a:rPr lang="en-IN" b="1" dirty="0"/>
              <a:t>event handling</a:t>
            </a:r>
            <a:r>
              <a:rPr lang="en-IN" dirty="0"/>
              <a:t> for buttons and user actions.</a:t>
            </a:r>
            <a:br>
              <a:rPr lang="en-IN" dirty="0"/>
            </a:br>
            <a:r>
              <a:rPr lang="en-IN" dirty="0"/>
              <a:t>• Used </a:t>
            </a:r>
            <a:r>
              <a:rPr lang="en-IN" b="1" dirty="0"/>
              <a:t>browser </a:t>
            </a:r>
            <a:r>
              <a:rPr lang="en-IN" b="1" dirty="0" err="1"/>
              <a:t>localStorage</a:t>
            </a:r>
            <a:r>
              <a:rPr lang="en-IN" dirty="0"/>
              <a:t> to store and retrieve food inventory data.</a:t>
            </a:r>
            <a:br>
              <a:rPr lang="en-IN" dirty="0"/>
            </a:br>
            <a:r>
              <a:rPr lang="en-IN" dirty="0"/>
              <a:t>• Enabled </a:t>
            </a:r>
            <a:r>
              <a:rPr lang="en-IN" b="1" dirty="0"/>
              <a:t>real-time updating of inventory information</a:t>
            </a:r>
            <a:r>
              <a:rPr lang="en-IN" dirty="0"/>
              <a:t>.</a:t>
            </a:r>
          </a:p>
          <a:p>
            <a:endParaRPr lang="en-IN" dirty="0"/>
          </a:p>
        </p:txBody>
      </p:sp>
      <p:sp>
        <p:nvSpPr>
          <p:cNvPr id="4" name="Date Placeholder 3">
            <a:extLst>
              <a:ext uri="{FF2B5EF4-FFF2-40B4-BE49-F238E27FC236}">
                <a16:creationId xmlns:a16="http://schemas.microsoft.com/office/drawing/2014/main" id="{D2007EDD-9228-FF4F-D5D8-66F7764A8A8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57298D93-9350-1FF2-1E7B-FB0D042FB4D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BC674E1-8142-7767-D6AB-F669738F0103}"/>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056269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D735A-6E2B-E3E7-372C-16A6200D8F46}"/>
              </a:ext>
            </a:extLst>
          </p:cNvPr>
          <p:cNvSpPr>
            <a:spLocks noGrp="1"/>
          </p:cNvSpPr>
          <p:nvPr>
            <p:ph type="title"/>
          </p:nvPr>
        </p:nvSpPr>
        <p:spPr>
          <a:xfrm>
            <a:off x="681681" y="934994"/>
            <a:ext cx="10515600" cy="1325563"/>
          </a:xfrm>
        </p:spPr>
        <p:txBody>
          <a:bodyPr/>
          <a:lstStyle/>
          <a:p>
            <a:pPr algn="ctr"/>
            <a:r>
              <a:rPr lang="en-US" b="1" dirty="0"/>
              <a:t>CO5 – Advanced Web Development Concepts</a:t>
            </a:r>
            <a:endParaRPr lang="en-IN" b="1" dirty="0"/>
          </a:p>
        </p:txBody>
      </p:sp>
      <p:sp>
        <p:nvSpPr>
          <p:cNvPr id="3" name="Content Placeholder 2">
            <a:extLst>
              <a:ext uri="{FF2B5EF4-FFF2-40B4-BE49-F238E27FC236}">
                <a16:creationId xmlns:a16="http://schemas.microsoft.com/office/drawing/2014/main" id="{22D7912E-AB76-CF76-8C08-3D05B4252FEB}"/>
              </a:ext>
            </a:extLst>
          </p:cNvPr>
          <p:cNvSpPr>
            <a:spLocks noGrp="1"/>
          </p:cNvSpPr>
          <p:nvPr>
            <p:ph idx="1"/>
          </p:nvPr>
        </p:nvSpPr>
        <p:spPr>
          <a:xfrm>
            <a:off x="1378806" y="3188043"/>
            <a:ext cx="8478795" cy="2734963"/>
          </a:xfrm>
        </p:spPr>
        <p:txBody>
          <a:bodyPr>
            <a:normAutofit fontScale="92500" lnSpcReduction="10000"/>
          </a:bodyPr>
          <a:lstStyle/>
          <a:p>
            <a:pPr marL="0" indent="0">
              <a:buNone/>
            </a:pPr>
            <a:r>
              <a:rPr lang="en-US" dirty="0"/>
              <a:t>• Developed an </a:t>
            </a:r>
            <a:r>
              <a:rPr lang="en-US" b="1" dirty="0"/>
              <a:t>interactive web application</a:t>
            </a:r>
            <a:r>
              <a:rPr lang="en-US" dirty="0"/>
              <a:t> for real-time food availability tracking.</a:t>
            </a:r>
            <a:br>
              <a:rPr lang="en-US" dirty="0"/>
            </a:br>
            <a:r>
              <a:rPr lang="en-US" dirty="0"/>
              <a:t>• Integrated </a:t>
            </a:r>
            <a:r>
              <a:rPr lang="en-US" b="1" dirty="0"/>
              <a:t>frontend technologies (HTML, CSS, JavaScript)</a:t>
            </a:r>
            <a:r>
              <a:rPr lang="en-US" dirty="0"/>
              <a:t> to build the system.</a:t>
            </a:r>
            <a:br>
              <a:rPr lang="en-US" dirty="0"/>
            </a:br>
            <a:r>
              <a:rPr lang="en-US" dirty="0"/>
              <a:t>• Implemented </a:t>
            </a:r>
            <a:r>
              <a:rPr lang="en-US" b="1" dirty="0"/>
              <a:t>efficient data handling and user interaction</a:t>
            </a:r>
            <a:r>
              <a:rPr lang="en-US" dirty="0"/>
              <a:t> features.</a:t>
            </a:r>
            <a:br>
              <a:rPr lang="en-US" dirty="0"/>
            </a:br>
            <a:r>
              <a:rPr lang="en-US" dirty="0"/>
              <a:t>• Demonstrated practical implementation of </a:t>
            </a:r>
            <a:r>
              <a:rPr lang="en-US" b="1" dirty="0"/>
              <a:t>modern web development concepts</a:t>
            </a:r>
            <a:r>
              <a:rPr lang="en-US" dirty="0"/>
              <a:t>.</a:t>
            </a:r>
          </a:p>
          <a:p>
            <a:endParaRPr lang="en-IN" dirty="0"/>
          </a:p>
        </p:txBody>
      </p:sp>
      <p:sp>
        <p:nvSpPr>
          <p:cNvPr id="4" name="Date Placeholder 3">
            <a:extLst>
              <a:ext uri="{FF2B5EF4-FFF2-40B4-BE49-F238E27FC236}">
                <a16:creationId xmlns:a16="http://schemas.microsoft.com/office/drawing/2014/main" id="{50531485-FEE6-769C-7A26-1C6A3E028FF1}"/>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5F0E1E32-A26C-C042-2907-253B5A46382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50DA420-F3AE-FCB4-D5E9-59CBA8633BB5}"/>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33670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678110" y="1556951"/>
            <a:ext cx="10492398" cy="4374293"/>
          </a:xfrm>
        </p:spPr>
        <p:txBody>
          <a:bodyPr>
            <a:normAutofit/>
          </a:bodyPr>
          <a:lstStyle/>
          <a:p>
            <a:pPr marL="0" indent="0" algn="ctr">
              <a:buNone/>
            </a:pPr>
            <a:r>
              <a:rPr lang="en-IN" sz="4000" b="1" dirty="0"/>
              <a:t>CO1 – Algorithm Analysis, Searching &amp; Sorting</a:t>
            </a:r>
          </a:p>
          <a:p>
            <a:pPr marL="0" indent="0">
              <a:buNone/>
            </a:pPr>
            <a:r>
              <a:rPr lang="en-IN" dirty="0"/>
              <a:t>• </a:t>
            </a:r>
            <a:r>
              <a:rPr lang="en-IN" dirty="0" err="1"/>
              <a:t>Analyze</a:t>
            </a:r>
            <a:r>
              <a:rPr lang="en-IN" dirty="0"/>
              <a:t> algorithms using </a:t>
            </a:r>
            <a:r>
              <a:rPr lang="en-IN" b="1" dirty="0"/>
              <a:t>asymptotic notations (Big-O, </a:t>
            </a:r>
            <a:r>
              <a:rPr lang="el-GR" b="1" dirty="0"/>
              <a:t>Ω, Θ)</a:t>
            </a:r>
            <a:r>
              <a:rPr lang="el-GR" dirty="0"/>
              <a:t>.</a:t>
            </a:r>
            <a:br>
              <a:rPr lang="el-GR" dirty="0"/>
            </a:br>
            <a:r>
              <a:rPr lang="el-GR" dirty="0"/>
              <a:t>• </a:t>
            </a:r>
            <a:r>
              <a:rPr lang="en-IN" dirty="0"/>
              <a:t>Compare </a:t>
            </a:r>
            <a:r>
              <a:rPr lang="en-IN" b="1" dirty="0"/>
              <a:t>time and space complexity</a:t>
            </a:r>
            <a:r>
              <a:rPr lang="en-IN" dirty="0"/>
              <a:t> of algorithms.</a:t>
            </a:r>
            <a:br>
              <a:rPr lang="en-IN" dirty="0"/>
            </a:br>
            <a:r>
              <a:rPr lang="en-IN" dirty="0"/>
              <a:t>• Implement </a:t>
            </a:r>
            <a:r>
              <a:rPr lang="en-IN" b="1" dirty="0"/>
              <a:t>searching algorithms</a:t>
            </a:r>
            <a:r>
              <a:rPr lang="en-IN" dirty="0"/>
              <a:t> like Linear Search and Binary Search.</a:t>
            </a:r>
            <a:br>
              <a:rPr lang="en-IN" dirty="0"/>
            </a:br>
            <a:r>
              <a:rPr lang="en-IN" dirty="0"/>
              <a:t>• Implement </a:t>
            </a:r>
            <a:r>
              <a:rPr lang="en-IN" b="1" dirty="0"/>
              <a:t>sorting algorithms</a:t>
            </a:r>
            <a:r>
              <a:rPr lang="en-IN" dirty="0"/>
              <a:t> such as Bubble, Selection, Insertion, Merge, and Quick Sort</a:t>
            </a: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344365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CD48E-0F26-4F50-B089-0966FC276140}"/>
              </a:ext>
            </a:extLst>
          </p:cNvPr>
          <p:cNvSpPr>
            <a:spLocks noGrp="1"/>
          </p:cNvSpPr>
          <p:nvPr>
            <p:ph type="title"/>
          </p:nvPr>
        </p:nvSpPr>
        <p:spPr>
          <a:xfrm>
            <a:off x="838200" y="986053"/>
            <a:ext cx="10515600" cy="1325563"/>
          </a:xfrm>
        </p:spPr>
        <p:txBody>
          <a:bodyPr/>
          <a:lstStyle/>
          <a:p>
            <a:r>
              <a:rPr lang="en-US" altLang="en-US" b="1" dirty="0">
                <a:latin typeface="Arial" panose="020B0604020202020204" pitchFamily="34" charset="0"/>
              </a:rPr>
              <a:t>CO2 – Linked List Data Structures</a:t>
            </a:r>
            <a:br>
              <a:rPr lang="en-US" altLang="en-US" b="1" dirty="0">
                <a:latin typeface="Arial" panose="020B0604020202020204" pitchFamily="34" charset="0"/>
              </a:rPr>
            </a:br>
            <a:endParaRPr lang="en-IN" dirty="0"/>
          </a:p>
        </p:txBody>
      </p:sp>
      <p:sp>
        <p:nvSpPr>
          <p:cNvPr id="4" name="Date Placeholder 3">
            <a:extLst>
              <a:ext uri="{FF2B5EF4-FFF2-40B4-BE49-F238E27FC236}">
                <a16:creationId xmlns:a16="http://schemas.microsoft.com/office/drawing/2014/main" id="{3B529B45-9108-40D8-0668-FCEDDC48A19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CF41B7E3-6A77-9ACF-1F34-67F2793224A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F74D497A-5907-99B8-6338-C0A643EF259E}"/>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7" name="Rectangle 1">
            <a:extLst>
              <a:ext uri="{FF2B5EF4-FFF2-40B4-BE49-F238E27FC236}">
                <a16:creationId xmlns:a16="http://schemas.microsoft.com/office/drawing/2014/main" id="{CE49F2D7-288D-19B8-A923-E2781129A5FD}"/>
              </a:ext>
            </a:extLst>
          </p:cNvPr>
          <p:cNvSpPr>
            <a:spLocks noGrp="1" noChangeArrowheads="1"/>
          </p:cNvSpPr>
          <p:nvPr>
            <p:ph idx="1"/>
          </p:nvPr>
        </p:nvSpPr>
        <p:spPr bwMode="auto">
          <a:xfrm>
            <a:off x="1283044" y="3169012"/>
            <a:ext cx="9302578"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Arial" panose="020B0604020202020204" pitchFamily="34" charset="0"/>
              </a:rPr>
              <a:t>• Design and implement </a:t>
            </a:r>
            <a:r>
              <a:rPr kumimoji="0" lang="en-US" altLang="en-US" sz="2600" b="1" i="0" u="none" strike="noStrike" cap="none" normalizeH="0" baseline="0" dirty="0">
                <a:ln>
                  <a:noFill/>
                </a:ln>
                <a:solidFill>
                  <a:schemeClr val="tx1"/>
                </a:solidFill>
                <a:effectLst/>
                <a:latin typeface="Arial" panose="020B0604020202020204" pitchFamily="34" charset="0"/>
              </a:rPr>
              <a:t>Abstract Data Types (ADTs)</a:t>
            </a:r>
            <a:r>
              <a:rPr kumimoji="0" lang="en-US" altLang="en-US" sz="2600" b="0" i="0" u="none" strike="noStrike" cap="none" normalizeH="0" baseline="0" dirty="0">
                <a:ln>
                  <a:noFill/>
                </a:ln>
                <a:solidFill>
                  <a:schemeClr val="tx1"/>
                </a:solidFill>
                <a:effectLst/>
                <a:latin typeface="Arial" panose="020B0604020202020204" pitchFamily="34" charset="0"/>
              </a:rPr>
              <a:t> using arrays and linked lists.</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Implement </a:t>
            </a:r>
            <a:r>
              <a:rPr kumimoji="0" lang="en-US" altLang="en-US" sz="2600" b="1" i="0" u="none" strike="noStrike" cap="none" normalizeH="0" baseline="0" dirty="0">
                <a:ln>
                  <a:noFill/>
                </a:ln>
                <a:solidFill>
                  <a:schemeClr val="tx1"/>
                </a:solidFill>
                <a:effectLst/>
                <a:latin typeface="Arial" panose="020B0604020202020204" pitchFamily="34" charset="0"/>
              </a:rPr>
              <a:t>Singly Linked List, Doubly Linked List, and Circular Linked List</a:t>
            </a:r>
            <a:r>
              <a:rPr kumimoji="0" lang="en-US" altLang="en-US" sz="2600" b="0" i="0" u="none" strike="noStrike" cap="none" normalizeH="0" baseline="0" dirty="0">
                <a:ln>
                  <a:noFill/>
                </a:ln>
                <a:solidFill>
                  <a:schemeClr val="tx1"/>
                </a:solidFill>
                <a:effectLst/>
                <a:latin typeface="Arial" panose="020B0604020202020204" pitchFamily="34" charset="0"/>
              </a:rPr>
              <a:t>.</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Perform operations like </a:t>
            </a:r>
            <a:r>
              <a:rPr kumimoji="0" lang="en-US" altLang="en-US" sz="2600" b="1" i="0" u="none" strike="noStrike" cap="none" normalizeH="0" baseline="0" dirty="0">
                <a:ln>
                  <a:noFill/>
                </a:ln>
                <a:solidFill>
                  <a:schemeClr val="tx1"/>
                </a:solidFill>
                <a:effectLst/>
                <a:latin typeface="Arial" panose="020B0604020202020204" pitchFamily="34" charset="0"/>
              </a:rPr>
              <a:t>insert, delete, search, and traverse</a:t>
            </a:r>
            <a:r>
              <a:rPr kumimoji="0" lang="en-US" altLang="en-US" sz="2600" b="0" i="0" u="none" strike="noStrike" cap="none" normalizeH="0" baseline="0" dirty="0">
                <a:ln>
                  <a:noFill/>
                </a:ln>
                <a:solidFill>
                  <a:schemeClr val="tx1"/>
                </a:solidFill>
                <a:effectLst/>
                <a:latin typeface="Arial" panose="020B0604020202020204" pitchFamily="34" charset="0"/>
              </a:rPr>
              <a:t>.</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Analyze advantages and trade-offs of different list structures. </a:t>
            </a:r>
          </a:p>
        </p:txBody>
      </p:sp>
    </p:spTree>
    <p:extLst>
      <p:ext uri="{BB962C8B-B14F-4D97-AF65-F5344CB8AC3E}">
        <p14:creationId xmlns:p14="http://schemas.microsoft.com/office/powerpoint/2010/main" val="3282371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6EBC2-3101-2D2A-9068-F26810D36700}"/>
              </a:ext>
            </a:extLst>
          </p:cNvPr>
          <p:cNvSpPr>
            <a:spLocks noGrp="1"/>
          </p:cNvSpPr>
          <p:nvPr>
            <p:ph type="title"/>
          </p:nvPr>
        </p:nvSpPr>
        <p:spPr>
          <a:xfrm>
            <a:off x="970005" y="1075011"/>
            <a:ext cx="10515600" cy="1325563"/>
          </a:xfrm>
        </p:spPr>
        <p:txBody>
          <a:bodyPr>
            <a:normAutofit fontScale="90000"/>
          </a:bodyPr>
          <a:lstStyle/>
          <a:p>
            <a:r>
              <a:rPr lang="en-US" altLang="en-US" b="1" dirty="0">
                <a:latin typeface="Arial" panose="020B0604020202020204" pitchFamily="34" charset="0"/>
              </a:rPr>
              <a:t>CO3 – Stack, Queue &amp; Priority Structures</a:t>
            </a:r>
            <a:br>
              <a:rPr lang="en-US" altLang="en-US" b="1" dirty="0">
                <a:latin typeface="Arial" panose="020B0604020202020204" pitchFamily="34" charset="0"/>
              </a:rPr>
            </a:br>
            <a:endParaRPr lang="en-IN" dirty="0"/>
          </a:p>
        </p:txBody>
      </p:sp>
      <p:sp>
        <p:nvSpPr>
          <p:cNvPr id="4" name="Date Placeholder 3">
            <a:extLst>
              <a:ext uri="{FF2B5EF4-FFF2-40B4-BE49-F238E27FC236}">
                <a16:creationId xmlns:a16="http://schemas.microsoft.com/office/drawing/2014/main" id="{C59B4B00-77BE-D933-A948-FFCE6DBB07B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1B737A7-2785-8524-2554-621E11E01C69}"/>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F8A412B1-A39D-DF58-9BE6-D536C2146D5F}"/>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7" name="Rectangle 1">
            <a:extLst>
              <a:ext uri="{FF2B5EF4-FFF2-40B4-BE49-F238E27FC236}">
                <a16:creationId xmlns:a16="http://schemas.microsoft.com/office/drawing/2014/main" id="{7B48902F-16DC-78B7-BB6A-F325A842641C}"/>
              </a:ext>
            </a:extLst>
          </p:cNvPr>
          <p:cNvSpPr>
            <a:spLocks noGrp="1" noChangeArrowheads="1"/>
          </p:cNvSpPr>
          <p:nvPr>
            <p:ph idx="1"/>
          </p:nvPr>
        </p:nvSpPr>
        <p:spPr bwMode="auto">
          <a:xfrm>
            <a:off x="838200" y="3154909"/>
            <a:ext cx="9862828"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Arial" panose="020B0604020202020204" pitchFamily="34" charset="0"/>
              </a:rPr>
              <a:t>• Implement </a:t>
            </a:r>
            <a:r>
              <a:rPr kumimoji="0" lang="en-US" altLang="en-US" sz="2600" b="1" i="0" u="none" strike="noStrike" cap="none" normalizeH="0" baseline="0" dirty="0">
                <a:ln>
                  <a:noFill/>
                </a:ln>
                <a:solidFill>
                  <a:schemeClr val="tx1"/>
                </a:solidFill>
                <a:effectLst/>
                <a:latin typeface="Arial" panose="020B0604020202020204" pitchFamily="34" charset="0"/>
              </a:rPr>
              <a:t>Stack and Queue</a:t>
            </a:r>
            <a:r>
              <a:rPr kumimoji="0" lang="en-US" altLang="en-US" sz="2600" b="0" i="0" u="none" strike="noStrike" cap="none" normalizeH="0" baseline="0" dirty="0">
                <a:ln>
                  <a:noFill/>
                </a:ln>
                <a:solidFill>
                  <a:schemeClr val="tx1"/>
                </a:solidFill>
                <a:effectLst/>
                <a:latin typeface="Arial" panose="020B0604020202020204" pitchFamily="34" charset="0"/>
              </a:rPr>
              <a:t> data structures.</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Apply stacks and queues to solve </a:t>
            </a:r>
            <a:r>
              <a:rPr kumimoji="0" lang="en-US" altLang="en-US" sz="2600" b="1" i="0" u="none" strike="noStrike" cap="none" normalizeH="0" baseline="0" dirty="0">
                <a:ln>
                  <a:noFill/>
                </a:ln>
                <a:solidFill>
                  <a:schemeClr val="tx1"/>
                </a:solidFill>
                <a:effectLst/>
                <a:latin typeface="Arial" panose="020B0604020202020204" pitchFamily="34" charset="0"/>
              </a:rPr>
              <a:t>real-world problems</a:t>
            </a:r>
            <a:r>
              <a:rPr kumimoji="0" lang="en-US" altLang="en-US" sz="2600" b="0" i="0" u="none" strike="noStrike" cap="none" normalizeH="0" baseline="0" dirty="0">
                <a:ln>
                  <a:noFill/>
                </a:ln>
                <a:solidFill>
                  <a:schemeClr val="tx1"/>
                </a:solidFill>
                <a:effectLst/>
                <a:latin typeface="Arial" panose="020B0604020202020204" pitchFamily="34" charset="0"/>
              </a:rPr>
              <a:t>.</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Implement </a:t>
            </a:r>
            <a:r>
              <a:rPr kumimoji="0" lang="en-US" altLang="en-US" sz="2600" b="1" i="0" u="none" strike="noStrike" cap="none" normalizeH="0" baseline="0" dirty="0">
                <a:ln>
                  <a:noFill/>
                </a:ln>
                <a:solidFill>
                  <a:schemeClr val="tx1"/>
                </a:solidFill>
                <a:effectLst/>
                <a:latin typeface="Arial" panose="020B0604020202020204" pitchFamily="34" charset="0"/>
              </a:rPr>
              <a:t>circular queues, deques, and priority queues</a:t>
            </a:r>
            <a:r>
              <a:rPr kumimoji="0" lang="en-US" altLang="en-US" sz="2600" b="0" i="0" u="none" strike="noStrike" cap="none" normalizeH="0" baseline="0" dirty="0">
                <a:ln>
                  <a:noFill/>
                </a:ln>
                <a:solidFill>
                  <a:schemeClr val="tx1"/>
                </a:solidFill>
                <a:effectLst/>
                <a:latin typeface="Arial" panose="020B0604020202020204" pitchFamily="34" charset="0"/>
              </a:rPr>
              <a:t>.</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Analyze their performance compared with other data structures</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74337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3B25-929C-FFCC-9FAE-30478E367C80}"/>
              </a:ext>
            </a:extLst>
          </p:cNvPr>
          <p:cNvSpPr>
            <a:spLocks noGrp="1"/>
          </p:cNvSpPr>
          <p:nvPr>
            <p:ph type="title"/>
          </p:nvPr>
        </p:nvSpPr>
        <p:spPr>
          <a:xfrm>
            <a:off x="985345" y="1027906"/>
            <a:ext cx="10515600" cy="1325563"/>
          </a:xfrm>
        </p:spPr>
        <p:txBody>
          <a:bodyPr>
            <a:normAutofit fontScale="90000"/>
          </a:bodyPr>
          <a:lstStyle/>
          <a:p>
            <a:r>
              <a:rPr lang="en-US" altLang="en-US" b="1" dirty="0">
                <a:latin typeface="Arial" panose="020B0604020202020204" pitchFamily="34" charset="0"/>
              </a:rPr>
              <a:t>CO4 – Hashing and Efficient Data Storage</a:t>
            </a:r>
            <a:br>
              <a:rPr lang="en-US" altLang="en-US" b="1" dirty="0">
                <a:latin typeface="Arial" panose="020B0604020202020204" pitchFamily="34" charset="0"/>
              </a:rPr>
            </a:br>
            <a:endParaRPr lang="en-IN" dirty="0"/>
          </a:p>
        </p:txBody>
      </p:sp>
      <p:sp>
        <p:nvSpPr>
          <p:cNvPr id="4" name="Date Placeholder 3">
            <a:extLst>
              <a:ext uri="{FF2B5EF4-FFF2-40B4-BE49-F238E27FC236}">
                <a16:creationId xmlns:a16="http://schemas.microsoft.com/office/drawing/2014/main" id="{A1E80662-9FAE-327D-6459-4A817CECBC3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2601DFAA-9465-296B-363F-3C31907620FF}"/>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2BBE5544-7630-FCD5-847F-1119448D509F}"/>
              </a:ext>
            </a:extLst>
          </p:cNvPr>
          <p:cNvSpPr>
            <a:spLocks noGrp="1"/>
          </p:cNvSpPr>
          <p:nvPr>
            <p:ph type="sldNum" sz="quarter" idx="12"/>
          </p:nvPr>
        </p:nvSpPr>
        <p:spPr/>
        <p:txBody>
          <a:bodyPr/>
          <a:lstStyle/>
          <a:p>
            <a:fld id="{B961B71F-4B40-8942-BB88-E0F5C0B46E10}" type="slidenum">
              <a:rPr lang="en-US" smtClean="0"/>
              <a:t>16</a:t>
            </a:fld>
            <a:endParaRPr lang="en-US"/>
          </a:p>
        </p:txBody>
      </p:sp>
      <p:sp>
        <p:nvSpPr>
          <p:cNvPr id="7" name="Rectangle 1">
            <a:extLst>
              <a:ext uri="{FF2B5EF4-FFF2-40B4-BE49-F238E27FC236}">
                <a16:creationId xmlns:a16="http://schemas.microsoft.com/office/drawing/2014/main" id="{82B9D47C-170B-6EF6-852F-BB440F770EE5}"/>
              </a:ext>
            </a:extLst>
          </p:cNvPr>
          <p:cNvSpPr>
            <a:spLocks noGrp="1" noChangeArrowheads="1"/>
          </p:cNvSpPr>
          <p:nvPr>
            <p:ph idx="1"/>
          </p:nvPr>
        </p:nvSpPr>
        <p:spPr bwMode="auto">
          <a:xfrm>
            <a:off x="838201" y="2953951"/>
            <a:ext cx="1016613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0" i="0" u="none" strike="noStrike" cap="none" normalizeH="0" baseline="0" dirty="0">
                <a:ln>
                  <a:noFill/>
                </a:ln>
                <a:solidFill>
                  <a:schemeClr val="tx1"/>
                </a:solidFill>
                <a:effectLst/>
                <a:latin typeface="Arial" panose="020B0604020202020204" pitchFamily="34" charset="0"/>
              </a:rPr>
              <a:t>• Implement </a:t>
            </a:r>
            <a:r>
              <a:rPr kumimoji="0" lang="en-US" altLang="en-US" sz="2600" b="1" i="0" u="none" strike="noStrike" cap="none" normalizeH="0" baseline="0" dirty="0">
                <a:ln>
                  <a:noFill/>
                </a:ln>
                <a:solidFill>
                  <a:schemeClr val="tx1"/>
                </a:solidFill>
                <a:effectLst/>
                <a:latin typeface="Arial" panose="020B0604020202020204" pitchFamily="34" charset="0"/>
              </a:rPr>
              <a:t>hash tables and hashing techniques</a:t>
            </a:r>
            <a:r>
              <a:rPr kumimoji="0" lang="en-US" altLang="en-US" sz="2600" b="0" i="0" u="none" strike="noStrike" cap="none" normalizeH="0" baseline="0" dirty="0">
                <a:ln>
                  <a:noFill/>
                </a:ln>
                <a:solidFill>
                  <a:schemeClr val="tx1"/>
                </a:solidFill>
                <a:effectLst/>
                <a:latin typeface="Arial" panose="020B0604020202020204" pitchFamily="34" charset="0"/>
              </a:rPr>
              <a:t>.</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Use </a:t>
            </a:r>
            <a:r>
              <a:rPr kumimoji="0" lang="en-US" altLang="en-US" sz="2600" b="1" i="0" u="none" strike="noStrike" cap="none" normalizeH="0" baseline="0" dirty="0">
                <a:ln>
                  <a:noFill/>
                </a:ln>
                <a:solidFill>
                  <a:schemeClr val="tx1"/>
                </a:solidFill>
                <a:effectLst/>
                <a:latin typeface="Arial" panose="020B0604020202020204" pitchFamily="34" charset="0"/>
              </a:rPr>
              <a:t>collision resolution techniques</a:t>
            </a:r>
            <a:r>
              <a:rPr kumimoji="0" lang="en-US" altLang="en-US" sz="2600" b="0" i="0" u="none" strike="noStrike" cap="none" normalizeH="0" baseline="0" dirty="0">
                <a:ln>
                  <a:noFill/>
                </a:ln>
                <a:solidFill>
                  <a:schemeClr val="tx1"/>
                </a:solidFill>
                <a:effectLst/>
                <a:latin typeface="Arial" panose="020B0604020202020204" pitchFamily="34" charset="0"/>
              </a:rPr>
              <a:t> such as chaining and open addressing.</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Use </a:t>
            </a:r>
            <a:r>
              <a:rPr kumimoji="0" lang="en-US" altLang="en-US" sz="2600" b="1" i="0" u="none" strike="noStrike" cap="none" normalizeH="0" baseline="0" dirty="0">
                <a:ln>
                  <a:noFill/>
                </a:ln>
                <a:solidFill>
                  <a:schemeClr val="tx1"/>
                </a:solidFill>
                <a:effectLst/>
                <a:latin typeface="Arial" panose="020B0604020202020204" pitchFamily="34" charset="0"/>
              </a:rPr>
              <a:t>Java collections (List, Queue, Map)</a:t>
            </a:r>
            <a:r>
              <a:rPr kumimoji="0" lang="en-US" altLang="en-US" sz="2600" b="0" i="0" u="none" strike="noStrike" cap="none" normalizeH="0" baseline="0" dirty="0">
                <a:ln>
                  <a:noFill/>
                </a:ln>
                <a:solidFill>
                  <a:schemeClr val="tx1"/>
                </a:solidFill>
                <a:effectLst/>
                <a:latin typeface="Arial" panose="020B0604020202020204" pitchFamily="34" charset="0"/>
              </a:rPr>
              <a:t> for efficient data management.</a:t>
            </a:r>
            <a:br>
              <a:rPr kumimoji="0" lang="en-US" altLang="en-US" sz="2600" b="0" i="0" u="none" strike="noStrike" cap="none" normalizeH="0" baseline="0" dirty="0">
                <a:ln>
                  <a:noFill/>
                </a:ln>
                <a:solidFill>
                  <a:schemeClr val="tx1"/>
                </a:solidFill>
                <a:effectLst/>
                <a:latin typeface="Arial" panose="020B0604020202020204" pitchFamily="34" charset="0"/>
              </a:rPr>
            </a:br>
            <a:r>
              <a:rPr kumimoji="0" lang="en-US" altLang="en-US" sz="2600" b="0" i="0" u="none" strike="noStrike" cap="none" normalizeH="0" baseline="0" dirty="0">
                <a:ln>
                  <a:noFill/>
                </a:ln>
                <a:solidFill>
                  <a:schemeClr val="tx1"/>
                </a:solidFill>
                <a:effectLst/>
                <a:latin typeface="Arial" panose="020B0604020202020204" pitchFamily="34" charset="0"/>
              </a:rPr>
              <a:t>• Design systems that support </a:t>
            </a:r>
            <a:r>
              <a:rPr kumimoji="0" lang="en-US" altLang="en-US" sz="2600" b="1" i="0" u="none" strike="noStrike" cap="none" normalizeH="0" baseline="0" dirty="0">
                <a:ln>
                  <a:noFill/>
                </a:ln>
                <a:solidFill>
                  <a:schemeClr val="tx1"/>
                </a:solidFill>
                <a:effectLst/>
                <a:latin typeface="Arial" panose="020B0604020202020204" pitchFamily="34" charset="0"/>
              </a:rPr>
              <a:t>fast searching and updates</a:t>
            </a:r>
            <a:r>
              <a:rPr kumimoji="0" lang="en-US" altLang="en-US" sz="26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808375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0C6C1-6E6C-46F4-AB8D-43FF3D659DD4}"/>
              </a:ext>
            </a:extLst>
          </p:cNvPr>
          <p:cNvSpPr>
            <a:spLocks noGrp="1"/>
          </p:cNvSpPr>
          <p:nvPr>
            <p:ph type="title"/>
          </p:nvPr>
        </p:nvSpPr>
        <p:spPr>
          <a:xfrm>
            <a:off x="755822" y="694638"/>
            <a:ext cx="10515600" cy="1325563"/>
          </a:xfrm>
        </p:spPr>
        <p:txBody>
          <a:bodyPr>
            <a:normAutofit fontScale="90000"/>
          </a:bodyPr>
          <a:lstStyle/>
          <a:p>
            <a:pPr algn="ctr"/>
            <a:r>
              <a:rPr lang="en-US" b="1" dirty="0"/>
              <a:t>CO5 – Real-World Applications of Data Structures</a:t>
            </a:r>
            <a:br>
              <a:rPr lang="en-US" b="1" dirty="0"/>
            </a:br>
            <a:endParaRPr lang="en-IN" dirty="0"/>
          </a:p>
        </p:txBody>
      </p:sp>
      <p:sp>
        <p:nvSpPr>
          <p:cNvPr id="3" name="Content Placeholder 2">
            <a:extLst>
              <a:ext uri="{FF2B5EF4-FFF2-40B4-BE49-F238E27FC236}">
                <a16:creationId xmlns:a16="http://schemas.microsoft.com/office/drawing/2014/main" id="{5FDF6080-1D1E-596E-7D6F-4C3F3FB9F236}"/>
              </a:ext>
            </a:extLst>
          </p:cNvPr>
          <p:cNvSpPr>
            <a:spLocks noGrp="1"/>
          </p:cNvSpPr>
          <p:nvPr>
            <p:ph idx="1"/>
          </p:nvPr>
        </p:nvSpPr>
        <p:spPr>
          <a:xfrm>
            <a:off x="1095632" y="2665884"/>
            <a:ext cx="9417908" cy="2491002"/>
          </a:xfrm>
        </p:spPr>
        <p:txBody>
          <a:bodyPr/>
          <a:lstStyle/>
          <a:p>
            <a:pPr marL="0" indent="0">
              <a:buNone/>
            </a:pPr>
            <a:r>
              <a:rPr lang="en-US" dirty="0"/>
              <a:t>• Apply </a:t>
            </a:r>
            <a:r>
              <a:rPr lang="en-US" b="1" dirty="0"/>
              <a:t>linear data structures to practical applications</a:t>
            </a:r>
            <a:r>
              <a:rPr lang="en-US" dirty="0"/>
              <a:t>.</a:t>
            </a:r>
            <a:br>
              <a:rPr lang="en-US" dirty="0"/>
            </a:br>
            <a:r>
              <a:rPr lang="en-US" dirty="0"/>
              <a:t>• Evaluate and compare data structures based on </a:t>
            </a:r>
            <a:r>
              <a:rPr lang="en-US" b="1" dirty="0"/>
              <a:t>performance and properties</a:t>
            </a:r>
            <a:r>
              <a:rPr lang="en-US" dirty="0"/>
              <a:t>.</a:t>
            </a:r>
            <a:br>
              <a:rPr lang="en-US" dirty="0"/>
            </a:br>
            <a:r>
              <a:rPr lang="en-US" dirty="0"/>
              <a:t>• Use appropriate data structures to solve </a:t>
            </a:r>
            <a:r>
              <a:rPr lang="en-US" b="1" dirty="0"/>
              <a:t>real-world problem</a:t>
            </a:r>
            <a:endParaRPr lang="en-US" dirty="0"/>
          </a:p>
          <a:p>
            <a:endParaRPr lang="en-IN" dirty="0"/>
          </a:p>
        </p:txBody>
      </p:sp>
      <p:sp>
        <p:nvSpPr>
          <p:cNvPr id="4" name="Date Placeholder 3">
            <a:extLst>
              <a:ext uri="{FF2B5EF4-FFF2-40B4-BE49-F238E27FC236}">
                <a16:creationId xmlns:a16="http://schemas.microsoft.com/office/drawing/2014/main" id="{E45C91B0-D67E-4C9D-DFF4-F7E0EAAB334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5455A923-7EB4-F3D7-788A-984BC7F3C34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7E63062-2C6B-00B7-CA8F-FA68C4B558D7}"/>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835587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755056" y="155756"/>
            <a:ext cx="10515600" cy="1325563"/>
          </a:xfrm>
        </p:spPr>
        <p:txBody>
          <a:bodyPr/>
          <a:lstStyle/>
          <a:p>
            <a:pPr algn="ctr"/>
            <a:r>
              <a:rPr lang="en-US" dirty="0"/>
              <a:t>Screenshots for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dirty="0"/>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18</a:t>
            </a:fld>
            <a:endParaRPr lang="en-US"/>
          </a:p>
        </p:txBody>
      </p:sp>
      <p:sp>
        <p:nvSpPr>
          <p:cNvPr id="23" name="TextBox 22">
            <a:extLst>
              <a:ext uri="{FF2B5EF4-FFF2-40B4-BE49-F238E27FC236}">
                <a16:creationId xmlns:a16="http://schemas.microsoft.com/office/drawing/2014/main" id="{92B98F02-54A8-27F2-0D94-C4E150D286DE}"/>
              </a:ext>
            </a:extLst>
          </p:cNvPr>
          <p:cNvSpPr txBox="1"/>
          <p:nvPr/>
        </p:nvSpPr>
        <p:spPr>
          <a:xfrm>
            <a:off x="926638" y="1798814"/>
            <a:ext cx="1675106" cy="369332"/>
          </a:xfrm>
          <a:prstGeom prst="rect">
            <a:avLst/>
          </a:prstGeom>
          <a:noFill/>
        </p:spPr>
        <p:txBody>
          <a:bodyPr wrap="square" rtlCol="0">
            <a:spAutoFit/>
          </a:bodyPr>
          <a:lstStyle/>
          <a:p>
            <a:r>
              <a:rPr lang="en-IN" dirty="0"/>
              <a:t>1</a:t>
            </a:r>
            <a:r>
              <a:rPr lang="en-IN" baseline="30000" dirty="0"/>
              <a:t>st</a:t>
            </a:r>
            <a:r>
              <a:rPr lang="en-IN" dirty="0"/>
              <a:t> Interface</a:t>
            </a:r>
          </a:p>
        </p:txBody>
      </p:sp>
      <p:sp>
        <p:nvSpPr>
          <p:cNvPr id="24" name="TextBox 23">
            <a:extLst>
              <a:ext uri="{FF2B5EF4-FFF2-40B4-BE49-F238E27FC236}">
                <a16:creationId xmlns:a16="http://schemas.microsoft.com/office/drawing/2014/main" id="{5B7A8349-7F76-3EC1-5591-D16C970D9957}"/>
              </a:ext>
            </a:extLst>
          </p:cNvPr>
          <p:cNvSpPr txBox="1"/>
          <p:nvPr/>
        </p:nvSpPr>
        <p:spPr>
          <a:xfrm>
            <a:off x="4778704" y="1845685"/>
            <a:ext cx="1916487" cy="369332"/>
          </a:xfrm>
          <a:prstGeom prst="rect">
            <a:avLst/>
          </a:prstGeom>
          <a:noFill/>
        </p:spPr>
        <p:txBody>
          <a:bodyPr wrap="none" rtlCol="0">
            <a:spAutoFit/>
          </a:bodyPr>
          <a:lstStyle/>
          <a:p>
            <a:r>
              <a:rPr lang="en-IN" dirty="0"/>
              <a:t>Choosing Option 1</a:t>
            </a:r>
          </a:p>
        </p:txBody>
      </p:sp>
      <p:sp>
        <p:nvSpPr>
          <p:cNvPr id="25" name="AutoShape 2">
            <a:extLst>
              <a:ext uri="{FF2B5EF4-FFF2-40B4-BE49-F238E27FC236}">
                <a16:creationId xmlns:a16="http://schemas.microsoft.com/office/drawing/2014/main" id="{8FD60C91-F6DF-6983-B7CC-E95F37A42B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8" name="Picture 27">
            <a:extLst>
              <a:ext uri="{FF2B5EF4-FFF2-40B4-BE49-F238E27FC236}">
                <a16:creationId xmlns:a16="http://schemas.microsoft.com/office/drawing/2014/main" id="{7129ACA2-9F1C-32CD-B42D-5BCF47A249C0}"/>
              </a:ext>
            </a:extLst>
          </p:cNvPr>
          <p:cNvPicPr>
            <a:picLocks noChangeAspect="1"/>
          </p:cNvPicPr>
          <p:nvPr/>
        </p:nvPicPr>
        <p:blipFill>
          <a:blip r:embed="rId2"/>
          <a:stretch>
            <a:fillRect/>
          </a:stretch>
        </p:blipFill>
        <p:spPr>
          <a:xfrm>
            <a:off x="8109174" y="2596925"/>
            <a:ext cx="3939712" cy="2993920"/>
          </a:xfrm>
          <a:prstGeom prst="rect">
            <a:avLst/>
          </a:prstGeom>
        </p:spPr>
      </p:pic>
      <p:pic>
        <p:nvPicPr>
          <p:cNvPr id="9" name="Content Placeholder 7">
            <a:extLst>
              <a:ext uri="{FF2B5EF4-FFF2-40B4-BE49-F238E27FC236}">
                <a16:creationId xmlns:a16="http://schemas.microsoft.com/office/drawing/2014/main" id="{1E692527-4ECE-DB44-E2DE-4920436EF6D3}"/>
              </a:ext>
            </a:extLst>
          </p:cNvPr>
          <p:cNvPicPr>
            <a:picLocks noGrp="1" noChangeAspect="1"/>
          </p:cNvPicPr>
          <p:nvPr>
            <p:ph idx="1"/>
          </p:nvPr>
        </p:nvPicPr>
        <p:blipFill>
          <a:blip r:embed="rId3"/>
          <a:stretch>
            <a:fillRect/>
          </a:stretch>
        </p:blipFill>
        <p:spPr>
          <a:xfrm>
            <a:off x="4094137" y="2548355"/>
            <a:ext cx="3939712" cy="3167766"/>
          </a:xfrm>
          <a:prstGeom prst="rect">
            <a:avLst/>
          </a:prstGeom>
        </p:spPr>
      </p:pic>
      <p:pic>
        <p:nvPicPr>
          <p:cNvPr id="12" name="Picture 11">
            <a:extLst>
              <a:ext uri="{FF2B5EF4-FFF2-40B4-BE49-F238E27FC236}">
                <a16:creationId xmlns:a16="http://schemas.microsoft.com/office/drawing/2014/main" id="{39B9CD1D-F72E-65E7-872E-4017B25D1E2C}"/>
              </a:ext>
            </a:extLst>
          </p:cNvPr>
          <p:cNvPicPr>
            <a:picLocks noChangeAspect="1"/>
          </p:cNvPicPr>
          <p:nvPr/>
        </p:nvPicPr>
        <p:blipFill>
          <a:blip r:embed="rId4"/>
          <a:stretch>
            <a:fillRect/>
          </a:stretch>
        </p:blipFill>
        <p:spPr>
          <a:xfrm>
            <a:off x="4095492" y="2579383"/>
            <a:ext cx="3938357" cy="3170195"/>
          </a:xfrm>
          <a:prstGeom prst="rect">
            <a:avLst/>
          </a:prstGeom>
        </p:spPr>
      </p:pic>
      <p:pic>
        <p:nvPicPr>
          <p:cNvPr id="13" name="Picture 12">
            <a:extLst>
              <a:ext uri="{FF2B5EF4-FFF2-40B4-BE49-F238E27FC236}">
                <a16:creationId xmlns:a16="http://schemas.microsoft.com/office/drawing/2014/main" id="{723D5184-3A76-F953-9C54-FDF6106051E0}"/>
              </a:ext>
            </a:extLst>
          </p:cNvPr>
          <p:cNvPicPr>
            <a:picLocks noChangeAspect="1"/>
          </p:cNvPicPr>
          <p:nvPr/>
        </p:nvPicPr>
        <p:blipFill>
          <a:blip r:embed="rId4"/>
          <a:stretch>
            <a:fillRect/>
          </a:stretch>
        </p:blipFill>
        <p:spPr>
          <a:xfrm>
            <a:off x="0" y="2579382"/>
            <a:ext cx="3938357" cy="3170195"/>
          </a:xfrm>
          <a:prstGeom prst="rect">
            <a:avLst/>
          </a:prstGeom>
        </p:spPr>
      </p:pic>
      <p:pic>
        <p:nvPicPr>
          <p:cNvPr id="15" name="Picture 14">
            <a:extLst>
              <a:ext uri="{FF2B5EF4-FFF2-40B4-BE49-F238E27FC236}">
                <a16:creationId xmlns:a16="http://schemas.microsoft.com/office/drawing/2014/main" id="{D21DAF09-6588-57BD-F97E-090659454CD5}"/>
              </a:ext>
            </a:extLst>
          </p:cNvPr>
          <p:cNvPicPr>
            <a:picLocks noChangeAspect="1"/>
          </p:cNvPicPr>
          <p:nvPr/>
        </p:nvPicPr>
        <p:blipFill>
          <a:blip r:embed="rId5"/>
          <a:stretch>
            <a:fillRect/>
          </a:stretch>
        </p:blipFill>
        <p:spPr>
          <a:xfrm>
            <a:off x="0" y="2579383"/>
            <a:ext cx="3907615" cy="3182112"/>
          </a:xfrm>
          <a:prstGeom prst="rect">
            <a:avLst/>
          </a:prstGeom>
        </p:spPr>
      </p:pic>
      <p:pic>
        <p:nvPicPr>
          <p:cNvPr id="17" name="Picture 16">
            <a:extLst>
              <a:ext uri="{FF2B5EF4-FFF2-40B4-BE49-F238E27FC236}">
                <a16:creationId xmlns:a16="http://schemas.microsoft.com/office/drawing/2014/main" id="{1AE3163F-B26D-C8D8-8CD8-FD5B2B61B44C}"/>
              </a:ext>
            </a:extLst>
          </p:cNvPr>
          <p:cNvPicPr>
            <a:picLocks noChangeAspect="1"/>
          </p:cNvPicPr>
          <p:nvPr/>
        </p:nvPicPr>
        <p:blipFill>
          <a:blip r:embed="rId6"/>
          <a:stretch>
            <a:fillRect/>
          </a:stretch>
        </p:blipFill>
        <p:spPr>
          <a:xfrm>
            <a:off x="4038600" y="2548355"/>
            <a:ext cx="3938356" cy="3167766"/>
          </a:xfrm>
          <a:prstGeom prst="rect">
            <a:avLst/>
          </a:prstGeom>
        </p:spPr>
      </p:pic>
      <p:pic>
        <p:nvPicPr>
          <p:cNvPr id="19" name="Picture 18">
            <a:extLst>
              <a:ext uri="{FF2B5EF4-FFF2-40B4-BE49-F238E27FC236}">
                <a16:creationId xmlns:a16="http://schemas.microsoft.com/office/drawing/2014/main" id="{1F6CCA67-0BA3-AF61-C98A-5D02916A2248}"/>
              </a:ext>
            </a:extLst>
          </p:cNvPr>
          <p:cNvPicPr>
            <a:picLocks noChangeAspect="1"/>
          </p:cNvPicPr>
          <p:nvPr/>
        </p:nvPicPr>
        <p:blipFill>
          <a:blip r:embed="rId7"/>
          <a:stretch>
            <a:fillRect/>
          </a:stretch>
        </p:blipFill>
        <p:spPr>
          <a:xfrm>
            <a:off x="8153400" y="2596925"/>
            <a:ext cx="3895486" cy="299392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DA85-25EB-D18C-8BAA-E6AE97B1B33C}"/>
              </a:ext>
            </a:extLst>
          </p:cNvPr>
          <p:cNvSpPr>
            <a:spLocks noGrp="1"/>
          </p:cNvSpPr>
          <p:nvPr>
            <p:ph type="title"/>
          </p:nvPr>
        </p:nvSpPr>
        <p:spPr/>
        <p:txBody>
          <a:bodyPr/>
          <a:lstStyle/>
          <a:p>
            <a:pPr algn="ctr"/>
            <a:r>
              <a:rPr lang="en-US" dirty="0"/>
              <a:t>Screenshots for DSA</a:t>
            </a:r>
            <a:endParaRPr lang="en-IN" dirty="0"/>
          </a:p>
        </p:txBody>
      </p:sp>
      <p:sp>
        <p:nvSpPr>
          <p:cNvPr id="4" name="Date Placeholder 3">
            <a:extLst>
              <a:ext uri="{FF2B5EF4-FFF2-40B4-BE49-F238E27FC236}">
                <a16:creationId xmlns:a16="http://schemas.microsoft.com/office/drawing/2014/main" id="{CD2915DA-B24B-044B-3AA2-359BA17A80C5}"/>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10282138-C039-9098-0FA1-0DBDC8B428D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D6D2C48D-009B-E24F-A81B-53747D1EF93C}"/>
              </a:ext>
            </a:extLst>
          </p:cNvPr>
          <p:cNvSpPr>
            <a:spLocks noGrp="1"/>
          </p:cNvSpPr>
          <p:nvPr>
            <p:ph type="sldNum" sz="quarter" idx="12"/>
          </p:nvPr>
        </p:nvSpPr>
        <p:spPr/>
        <p:txBody>
          <a:bodyPr/>
          <a:lstStyle/>
          <a:p>
            <a:fld id="{B961B71F-4B40-8942-BB88-E0F5C0B46E10}" type="slidenum">
              <a:rPr lang="en-US" smtClean="0"/>
              <a:t>19</a:t>
            </a:fld>
            <a:endParaRPr lang="en-US"/>
          </a:p>
        </p:txBody>
      </p:sp>
      <p:pic>
        <p:nvPicPr>
          <p:cNvPr id="7" name="Content Placeholder 6">
            <a:extLst>
              <a:ext uri="{FF2B5EF4-FFF2-40B4-BE49-F238E27FC236}">
                <a16:creationId xmlns:a16="http://schemas.microsoft.com/office/drawing/2014/main" id="{10C246A6-0F02-F253-6D79-53BA77DAE138}"/>
              </a:ext>
            </a:extLst>
          </p:cNvPr>
          <p:cNvPicPr>
            <a:picLocks noGrp="1" noChangeAspect="1"/>
          </p:cNvPicPr>
          <p:nvPr>
            <p:ph idx="1"/>
          </p:nvPr>
        </p:nvPicPr>
        <p:blipFill>
          <a:blip r:embed="rId2"/>
          <a:stretch>
            <a:fillRect/>
          </a:stretch>
        </p:blipFill>
        <p:spPr>
          <a:xfrm>
            <a:off x="167969" y="2919838"/>
            <a:ext cx="3695578" cy="3122187"/>
          </a:xfrm>
          <a:prstGeom prst="rect">
            <a:avLst/>
          </a:prstGeom>
        </p:spPr>
      </p:pic>
      <p:pic>
        <p:nvPicPr>
          <p:cNvPr id="10" name="Picture 9">
            <a:extLst>
              <a:ext uri="{FF2B5EF4-FFF2-40B4-BE49-F238E27FC236}">
                <a16:creationId xmlns:a16="http://schemas.microsoft.com/office/drawing/2014/main" id="{B665E2CD-1F3A-7C4D-4D65-765E32D1A4E3}"/>
              </a:ext>
            </a:extLst>
          </p:cNvPr>
          <p:cNvPicPr>
            <a:picLocks noChangeAspect="1"/>
          </p:cNvPicPr>
          <p:nvPr/>
        </p:nvPicPr>
        <p:blipFill>
          <a:blip r:embed="rId3"/>
          <a:stretch>
            <a:fillRect/>
          </a:stretch>
        </p:blipFill>
        <p:spPr>
          <a:xfrm>
            <a:off x="8025378" y="2919838"/>
            <a:ext cx="3913644" cy="3060832"/>
          </a:xfrm>
          <a:prstGeom prst="rect">
            <a:avLst/>
          </a:prstGeom>
        </p:spPr>
      </p:pic>
      <p:sp>
        <p:nvSpPr>
          <p:cNvPr id="11" name="AutoShape 2">
            <a:extLst>
              <a:ext uri="{FF2B5EF4-FFF2-40B4-BE49-F238E27FC236}">
                <a16:creationId xmlns:a16="http://schemas.microsoft.com/office/drawing/2014/main" id="{0DA94406-F0AA-2754-A50F-A9742B8C50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63E0CDE9-7B1E-E61D-2785-A053DDC105CA}"/>
              </a:ext>
            </a:extLst>
          </p:cNvPr>
          <p:cNvPicPr>
            <a:picLocks noChangeAspect="1"/>
          </p:cNvPicPr>
          <p:nvPr/>
        </p:nvPicPr>
        <p:blipFill>
          <a:blip r:embed="rId4"/>
          <a:stretch>
            <a:fillRect/>
          </a:stretch>
        </p:blipFill>
        <p:spPr>
          <a:xfrm>
            <a:off x="4040660" y="2871146"/>
            <a:ext cx="3805880" cy="3170879"/>
          </a:xfrm>
          <a:prstGeom prst="rect">
            <a:avLst/>
          </a:prstGeom>
        </p:spPr>
      </p:pic>
      <p:sp>
        <p:nvSpPr>
          <p:cNvPr id="14" name="TextBox 13">
            <a:extLst>
              <a:ext uri="{FF2B5EF4-FFF2-40B4-BE49-F238E27FC236}">
                <a16:creationId xmlns:a16="http://schemas.microsoft.com/office/drawing/2014/main" id="{B7819828-F56D-07CA-704E-31404DEA21B9}"/>
              </a:ext>
            </a:extLst>
          </p:cNvPr>
          <p:cNvSpPr txBox="1"/>
          <p:nvPr/>
        </p:nvSpPr>
        <p:spPr>
          <a:xfrm>
            <a:off x="387178" y="2504303"/>
            <a:ext cx="1916487" cy="369332"/>
          </a:xfrm>
          <a:prstGeom prst="rect">
            <a:avLst/>
          </a:prstGeom>
          <a:noFill/>
        </p:spPr>
        <p:txBody>
          <a:bodyPr wrap="none" rtlCol="0">
            <a:spAutoFit/>
          </a:bodyPr>
          <a:lstStyle/>
          <a:p>
            <a:r>
              <a:rPr lang="en-IN" dirty="0"/>
              <a:t>Choosing Option 3</a:t>
            </a:r>
          </a:p>
        </p:txBody>
      </p:sp>
      <p:sp>
        <p:nvSpPr>
          <p:cNvPr id="15" name="TextBox 14">
            <a:extLst>
              <a:ext uri="{FF2B5EF4-FFF2-40B4-BE49-F238E27FC236}">
                <a16:creationId xmlns:a16="http://schemas.microsoft.com/office/drawing/2014/main" id="{66BC4773-7B75-1D62-8BB8-C576B3C3B7B6}"/>
              </a:ext>
            </a:extLst>
          </p:cNvPr>
          <p:cNvSpPr txBox="1"/>
          <p:nvPr/>
        </p:nvSpPr>
        <p:spPr>
          <a:xfrm>
            <a:off x="4349578" y="2364259"/>
            <a:ext cx="1916487" cy="369332"/>
          </a:xfrm>
          <a:prstGeom prst="rect">
            <a:avLst/>
          </a:prstGeom>
          <a:noFill/>
        </p:spPr>
        <p:txBody>
          <a:bodyPr wrap="none" rtlCol="0">
            <a:spAutoFit/>
          </a:bodyPr>
          <a:lstStyle/>
          <a:p>
            <a:r>
              <a:rPr lang="en-IN" dirty="0"/>
              <a:t>Choosing Option 4</a:t>
            </a:r>
          </a:p>
        </p:txBody>
      </p:sp>
      <p:sp>
        <p:nvSpPr>
          <p:cNvPr id="16" name="TextBox 15">
            <a:extLst>
              <a:ext uri="{FF2B5EF4-FFF2-40B4-BE49-F238E27FC236}">
                <a16:creationId xmlns:a16="http://schemas.microsoft.com/office/drawing/2014/main" id="{C86D6947-2028-EBCA-D0DF-CA25353CFFBF}"/>
              </a:ext>
            </a:extLst>
          </p:cNvPr>
          <p:cNvSpPr txBox="1"/>
          <p:nvPr/>
        </p:nvSpPr>
        <p:spPr>
          <a:xfrm>
            <a:off x="8610600" y="2504303"/>
            <a:ext cx="1916487" cy="369332"/>
          </a:xfrm>
          <a:prstGeom prst="rect">
            <a:avLst/>
          </a:prstGeom>
          <a:noFill/>
        </p:spPr>
        <p:txBody>
          <a:bodyPr wrap="none" rtlCol="0">
            <a:spAutoFit/>
          </a:bodyPr>
          <a:lstStyle/>
          <a:p>
            <a:r>
              <a:rPr lang="en-IN" dirty="0"/>
              <a:t>Choosing Option 5</a:t>
            </a:r>
          </a:p>
        </p:txBody>
      </p:sp>
      <p:pic>
        <p:nvPicPr>
          <p:cNvPr id="8" name="Picture 7">
            <a:extLst>
              <a:ext uri="{FF2B5EF4-FFF2-40B4-BE49-F238E27FC236}">
                <a16:creationId xmlns:a16="http://schemas.microsoft.com/office/drawing/2014/main" id="{D10DB9DE-16FA-EFBD-D467-FC4D45C2FDD0}"/>
              </a:ext>
            </a:extLst>
          </p:cNvPr>
          <p:cNvPicPr>
            <a:picLocks noChangeAspect="1"/>
          </p:cNvPicPr>
          <p:nvPr/>
        </p:nvPicPr>
        <p:blipFill>
          <a:blip r:embed="rId5"/>
          <a:stretch>
            <a:fillRect/>
          </a:stretch>
        </p:blipFill>
        <p:spPr>
          <a:xfrm>
            <a:off x="167970" y="2838384"/>
            <a:ext cx="3693852" cy="3203641"/>
          </a:xfrm>
          <a:prstGeom prst="rect">
            <a:avLst/>
          </a:prstGeom>
        </p:spPr>
      </p:pic>
      <p:pic>
        <p:nvPicPr>
          <p:cNvPr id="12" name="Picture 11">
            <a:extLst>
              <a:ext uri="{FF2B5EF4-FFF2-40B4-BE49-F238E27FC236}">
                <a16:creationId xmlns:a16="http://schemas.microsoft.com/office/drawing/2014/main" id="{0C0369DC-553A-FD20-22DB-02F73ED8D7B1}"/>
              </a:ext>
            </a:extLst>
          </p:cNvPr>
          <p:cNvPicPr>
            <a:picLocks noChangeAspect="1"/>
          </p:cNvPicPr>
          <p:nvPr/>
        </p:nvPicPr>
        <p:blipFill>
          <a:blip r:embed="rId6"/>
          <a:stretch>
            <a:fillRect/>
          </a:stretch>
        </p:blipFill>
        <p:spPr>
          <a:xfrm>
            <a:off x="4024022" y="2775563"/>
            <a:ext cx="3822518" cy="3266461"/>
          </a:xfrm>
          <a:prstGeom prst="rect">
            <a:avLst/>
          </a:prstGeom>
        </p:spPr>
      </p:pic>
      <p:pic>
        <p:nvPicPr>
          <p:cNvPr id="18" name="Picture 17">
            <a:extLst>
              <a:ext uri="{FF2B5EF4-FFF2-40B4-BE49-F238E27FC236}">
                <a16:creationId xmlns:a16="http://schemas.microsoft.com/office/drawing/2014/main" id="{E6F8F313-14A5-5DFE-7D58-A9AF7D188FBF}"/>
              </a:ext>
            </a:extLst>
          </p:cNvPr>
          <p:cNvPicPr>
            <a:picLocks noChangeAspect="1"/>
          </p:cNvPicPr>
          <p:nvPr/>
        </p:nvPicPr>
        <p:blipFill>
          <a:blip r:embed="rId7"/>
          <a:stretch>
            <a:fillRect/>
          </a:stretch>
        </p:blipFill>
        <p:spPr>
          <a:xfrm>
            <a:off x="8025378" y="2873634"/>
            <a:ext cx="3913644" cy="3107036"/>
          </a:xfrm>
          <a:prstGeom prst="rect">
            <a:avLst/>
          </a:prstGeom>
        </p:spPr>
      </p:pic>
    </p:spTree>
    <p:extLst>
      <p:ext uri="{BB962C8B-B14F-4D97-AF65-F5344CB8AC3E}">
        <p14:creationId xmlns:p14="http://schemas.microsoft.com/office/powerpoint/2010/main" val="2167586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20</a:t>
            </a:fld>
            <a:endParaRPr lang="en-US"/>
          </a:p>
        </p:txBody>
      </p:sp>
      <p:sp>
        <p:nvSpPr>
          <p:cNvPr id="2" name="Content Placeholder 1">
            <a:extLst>
              <a:ext uri="{FF2B5EF4-FFF2-40B4-BE49-F238E27FC236}">
                <a16:creationId xmlns:a16="http://schemas.microsoft.com/office/drawing/2014/main" id="{F7130C5F-111C-8EAF-469B-5E16156F3109}"/>
              </a:ext>
            </a:extLst>
          </p:cNvPr>
          <p:cNvSpPr>
            <a:spLocks noGrp="1" noChangeArrowheads="1"/>
          </p:cNvSpPr>
          <p:nvPr>
            <p:ph idx="1"/>
          </p:nvPr>
        </p:nvSpPr>
        <p:spPr bwMode="auto">
          <a:xfrm>
            <a:off x="920852" y="1484270"/>
            <a:ext cx="10692713" cy="4578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altLang="en-US" sz="2400" dirty="0">
                <a:latin typeface="Arial" panose="020B0604020202020204" pitchFamily="34" charset="0"/>
              </a:rPr>
              <a:t>•</a:t>
            </a:r>
            <a:r>
              <a:rPr lang="en-US" sz="2400" dirty="0"/>
              <a:t>The </a:t>
            </a:r>
            <a:r>
              <a:rPr lang="en-US" sz="2400" b="1" dirty="0"/>
              <a:t>Smart Online Marketplace for Local Vendors</a:t>
            </a:r>
            <a:r>
              <a:rPr lang="en-US" sz="2400" dirty="0"/>
              <a:t> successfully bridges the gap between traditional markets and modern e-commerce by offering a simple, affordable, and community-focused digital platform. It empowers small vendors with tools for product management, real-time inventory updates, secure transactions, and data-driven insights, while providing customers with convenient access to nearby sellers through location-based search.</a:t>
            </a:r>
          </a:p>
          <a:p>
            <a:r>
              <a:rPr lang="en-US" sz="2400" dirty="0"/>
              <a:t>By integrating responsive design, scalable architecture, and analytics, the system not only enhances the buying and selling experience but also promotes sustainable community development and strengthens local economies. This project demonstrates the practical application of software engineering principles, data structures, and modern web technologies, making it a valuable solution adaptable to diverse communities.</a:t>
            </a:r>
          </a:p>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8912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21FA3BDE-5121-3D53-B58B-585294085043}"/>
              </a:ext>
            </a:extLst>
          </p:cNvPr>
          <p:cNvPicPr>
            <a:picLocks noGrp="1" noChangeAspect="1"/>
          </p:cNvPicPr>
          <p:nvPr>
            <p:ph idx="1"/>
          </p:nvPr>
        </p:nvPicPr>
        <p:blipFill>
          <a:blip r:embed="rId2"/>
          <a:stretch>
            <a:fillRect/>
          </a:stretch>
        </p:blipFill>
        <p:spPr>
          <a:xfrm>
            <a:off x="578048" y="1690688"/>
            <a:ext cx="3263503" cy="435133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21</a:t>
            </a:fld>
            <a:endParaRPr lang="en-US"/>
          </a:p>
        </p:txBody>
      </p:sp>
      <p:pic>
        <p:nvPicPr>
          <p:cNvPr id="9" name="Content Placeholder 7">
            <a:extLst>
              <a:ext uri="{FF2B5EF4-FFF2-40B4-BE49-F238E27FC236}">
                <a16:creationId xmlns:a16="http://schemas.microsoft.com/office/drawing/2014/main" id="{93D2DD7C-6CAE-B59D-5BC8-C64432318860}"/>
              </a:ext>
            </a:extLst>
          </p:cNvPr>
          <p:cNvPicPr>
            <a:picLocks noChangeAspect="1"/>
          </p:cNvPicPr>
          <p:nvPr/>
        </p:nvPicPr>
        <p:blipFill>
          <a:blip r:embed="rId2"/>
          <a:stretch>
            <a:fillRect/>
          </a:stretch>
        </p:blipFill>
        <p:spPr>
          <a:xfrm>
            <a:off x="4334172" y="1690688"/>
            <a:ext cx="3263503" cy="4351338"/>
          </a:xfrm>
          <a:prstGeom prst="rect">
            <a:avLst/>
          </a:prstGeom>
        </p:spPr>
      </p:pic>
      <p:pic>
        <p:nvPicPr>
          <p:cNvPr id="11" name="Picture 10">
            <a:extLst>
              <a:ext uri="{FF2B5EF4-FFF2-40B4-BE49-F238E27FC236}">
                <a16:creationId xmlns:a16="http://schemas.microsoft.com/office/drawing/2014/main" id="{B3FC30DE-8243-072E-AA43-7367135D2641}"/>
              </a:ext>
            </a:extLst>
          </p:cNvPr>
          <p:cNvPicPr>
            <a:picLocks noChangeAspect="1"/>
          </p:cNvPicPr>
          <p:nvPr/>
        </p:nvPicPr>
        <p:blipFill>
          <a:blip r:embed="rId3"/>
          <a:stretch>
            <a:fillRect/>
          </a:stretch>
        </p:blipFill>
        <p:spPr>
          <a:xfrm>
            <a:off x="4334172" y="1683769"/>
            <a:ext cx="3263503" cy="4351338"/>
          </a:xfrm>
          <a:prstGeom prst="rect">
            <a:avLst/>
          </a:prstGeom>
        </p:spPr>
      </p:pic>
      <p:pic>
        <p:nvPicPr>
          <p:cNvPr id="12" name="Picture 11">
            <a:extLst>
              <a:ext uri="{FF2B5EF4-FFF2-40B4-BE49-F238E27FC236}">
                <a16:creationId xmlns:a16="http://schemas.microsoft.com/office/drawing/2014/main" id="{D853CFFA-5713-AB33-BB48-0C4095A697F2}"/>
              </a:ext>
            </a:extLst>
          </p:cNvPr>
          <p:cNvPicPr>
            <a:picLocks noChangeAspect="1"/>
          </p:cNvPicPr>
          <p:nvPr/>
        </p:nvPicPr>
        <p:blipFill>
          <a:blip r:embed="rId3"/>
          <a:stretch>
            <a:fillRect/>
          </a:stretch>
        </p:blipFill>
        <p:spPr>
          <a:xfrm>
            <a:off x="8090296" y="1690688"/>
            <a:ext cx="3263503" cy="4351338"/>
          </a:xfrm>
          <a:prstGeom prst="rect">
            <a:avLst/>
          </a:prstGeom>
        </p:spPr>
      </p:pic>
      <p:pic>
        <p:nvPicPr>
          <p:cNvPr id="14" name="Picture 13">
            <a:extLst>
              <a:ext uri="{FF2B5EF4-FFF2-40B4-BE49-F238E27FC236}">
                <a16:creationId xmlns:a16="http://schemas.microsoft.com/office/drawing/2014/main" id="{FC5287F4-BAE0-D728-E56C-C051C2E29DFF}"/>
              </a:ext>
            </a:extLst>
          </p:cNvPr>
          <p:cNvPicPr>
            <a:picLocks noChangeAspect="1"/>
          </p:cNvPicPr>
          <p:nvPr/>
        </p:nvPicPr>
        <p:blipFill>
          <a:blip r:embed="rId4"/>
          <a:stretch>
            <a:fillRect/>
          </a:stretch>
        </p:blipFill>
        <p:spPr>
          <a:xfrm>
            <a:off x="8072461" y="1690688"/>
            <a:ext cx="3281339" cy="4253367"/>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3808</TotalTime>
  <Words>1574</Words>
  <Application>Microsoft Office PowerPoint</Application>
  <PresentationFormat>Widescreen</PresentationFormat>
  <Paragraphs>169</Paragraphs>
  <Slides>22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Arial</vt:lpstr>
      <vt:lpstr>Calibri</vt:lpstr>
      <vt:lpstr>Calibri Light</vt:lpstr>
      <vt:lpstr>Google Sans Text</vt:lpstr>
      <vt:lpstr>Office Theme</vt:lpstr>
      <vt:lpstr>Custom Design</vt:lpstr>
      <vt:lpstr>Title:smart online marketplace for loacal vendors</vt:lpstr>
      <vt:lpstr>Abstract</vt:lpstr>
      <vt:lpstr>Existing System </vt:lpstr>
      <vt:lpstr>Proposed System</vt:lpstr>
      <vt:lpstr>System Architecture</vt:lpstr>
      <vt:lpstr>Project Modules</vt:lpstr>
      <vt:lpstr>Objectives</vt:lpstr>
      <vt:lpstr>Co’s Attainments - FWD</vt:lpstr>
      <vt:lpstr>CO2 – HTML Forms &amp; Advanced CSS </vt:lpstr>
      <vt:lpstr>CO3 – JavaScript Programming </vt:lpstr>
      <vt:lpstr>CO4 – DOM Manipulation &amp; Web Storage </vt:lpstr>
      <vt:lpstr>CO5 – Advanced Web Development Concepts</vt:lpstr>
      <vt:lpstr>Co’s Attainments - DSA</vt:lpstr>
      <vt:lpstr>CO2 – Linked List Data Structures </vt:lpstr>
      <vt:lpstr>CO3 – Stack, Queue &amp; Priority Structures </vt:lpstr>
      <vt:lpstr>CO4 – Hashing and Efficient Data Storage </vt:lpstr>
      <vt:lpstr>CO5 – Real-World Applications of Data Structures </vt:lpstr>
      <vt:lpstr>Screenshots for DSA</vt:lpstr>
      <vt:lpstr>Screenshots for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Hi</cp:lastModifiedBy>
  <cp:revision>54</cp:revision>
  <dcterms:created xsi:type="dcterms:W3CDTF">2022-05-20T10:20:31Z</dcterms:created>
  <dcterms:modified xsi:type="dcterms:W3CDTF">2026-03-09T13:32:19Z</dcterms:modified>
</cp:coreProperties>
</file>